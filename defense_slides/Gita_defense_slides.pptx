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3" r:id="rId1"/>
    <p:sldMasterId id="2147483654" r:id="rId2"/>
  </p:sldMasterIdLst>
  <p:notesMasterIdLst>
    <p:notesMasterId r:id="rId38"/>
  </p:notesMasterIdLst>
  <p:sldIdLst>
    <p:sldId id="256" r:id="rId3"/>
    <p:sldId id="316" r:id="rId4"/>
    <p:sldId id="317" r:id="rId5"/>
    <p:sldId id="344" r:id="rId6"/>
    <p:sldId id="367" r:id="rId7"/>
    <p:sldId id="354" r:id="rId8"/>
    <p:sldId id="320" r:id="rId9"/>
    <p:sldId id="318" r:id="rId10"/>
    <p:sldId id="319" r:id="rId11"/>
    <p:sldId id="321" r:id="rId12"/>
    <p:sldId id="368" r:id="rId13"/>
    <p:sldId id="322" r:id="rId14"/>
    <p:sldId id="323" r:id="rId15"/>
    <p:sldId id="324" r:id="rId16"/>
    <p:sldId id="363" r:id="rId17"/>
    <p:sldId id="325" r:id="rId18"/>
    <p:sldId id="326" r:id="rId19"/>
    <p:sldId id="334" r:id="rId20"/>
    <p:sldId id="327" r:id="rId21"/>
    <p:sldId id="350" r:id="rId22"/>
    <p:sldId id="329" r:id="rId23"/>
    <p:sldId id="370" r:id="rId24"/>
    <p:sldId id="369" r:id="rId25"/>
    <p:sldId id="371" r:id="rId26"/>
    <p:sldId id="333" r:id="rId27"/>
    <p:sldId id="358" r:id="rId28"/>
    <p:sldId id="336" r:id="rId29"/>
    <p:sldId id="356" r:id="rId30"/>
    <p:sldId id="366" r:id="rId31"/>
    <p:sldId id="372" r:id="rId32"/>
    <p:sldId id="373" r:id="rId33"/>
    <p:sldId id="360" r:id="rId34"/>
    <p:sldId id="361" r:id="rId35"/>
    <p:sldId id="362" r:id="rId36"/>
    <p:sldId id="365" r:id="rId3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6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9460785777042445E-2"/>
          <c:y val="0.14282647998205436"/>
          <c:w val="0.9105391438785293"/>
          <c:h val="0.649480181143742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Emo name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Deberta</c:v>
                </c:pt>
                <c:pt idx="1">
                  <c:v>Bart</c:v>
                </c:pt>
                <c:pt idx="2">
                  <c:v>Roberta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0.54</c:v>
                </c:pt>
                <c:pt idx="1">
                  <c:v>0.56999999999999995</c:v>
                </c:pt>
                <c:pt idx="2">
                  <c:v>0.51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87-48CD-BFEC-56265A042D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Emotion prompt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Deberta</c:v>
                </c:pt>
                <c:pt idx="1">
                  <c:v>Bart</c:v>
                </c:pt>
                <c:pt idx="2">
                  <c:v>Roberta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0.61</c:v>
                </c:pt>
                <c:pt idx="1">
                  <c:v>0.56999999999999995</c:v>
                </c:pt>
                <c:pt idx="2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87-48CD-BFEC-56265A042D3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Expr emo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Deberta</c:v>
                </c:pt>
                <c:pt idx="1">
                  <c:v>Bart</c:v>
                </c:pt>
                <c:pt idx="2">
                  <c:v>Roberta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0.61</c:v>
                </c:pt>
                <c:pt idx="1">
                  <c:v>0.61</c:v>
                </c:pt>
                <c:pt idx="2">
                  <c:v>0.51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687-48CD-BFEC-56265A042D3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Feels emo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Deberta</c:v>
                </c:pt>
                <c:pt idx="1">
                  <c:v>Bart</c:v>
                </c:pt>
                <c:pt idx="2">
                  <c:v>Roberta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0.54</c:v>
                </c:pt>
                <c:pt idx="1">
                  <c:v>0.53</c:v>
                </c:pt>
                <c:pt idx="2">
                  <c:v>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687-48CD-BFEC-56265A042D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4936688"/>
        <c:axId val="454937344"/>
      </c:barChart>
      <c:catAx>
        <c:axId val="454936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4937344"/>
        <c:crosses val="autoZero"/>
        <c:auto val="1"/>
        <c:lblAlgn val="ctr"/>
        <c:lblOffset val="100"/>
        <c:noMultiLvlLbl val="0"/>
      </c:catAx>
      <c:valAx>
        <c:axId val="4549373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Macro</a:t>
                </a:r>
                <a:r>
                  <a:rPr lang="en-US" baseline="0" dirty="0" smtClean="0"/>
                  <a:t> average F1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4936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615156773966255"/>
          <c:y val="0.91087189842364547"/>
          <c:w val="0.59171792429441927"/>
          <c:h val="8.834339588799754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4681099021751092E-2"/>
          <c:y val="2.7425844920190151E-2"/>
          <c:w val="0.83886564679429909"/>
          <c:h val="0.7865108987387198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Emo name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Deberta</c:v>
                </c:pt>
                <c:pt idx="1">
                  <c:v>Bart</c:v>
                </c:pt>
                <c:pt idx="2">
                  <c:v>Roberta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0.41</c:v>
                </c:pt>
                <c:pt idx="1">
                  <c:v>0.37</c:v>
                </c:pt>
                <c:pt idx="2">
                  <c:v>0.34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E6-4946-A705-6142B7B308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Emotion prompt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Deberta</c:v>
                </c:pt>
                <c:pt idx="1">
                  <c:v>Bart</c:v>
                </c:pt>
                <c:pt idx="2">
                  <c:v>Roberta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</c:v>
                </c:pt>
                <c:pt idx="1">
                  <c:v>0.37</c:v>
                </c:pt>
                <c:pt idx="2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5E6-4946-A705-6142B7B3084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Expr emo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Deberta</c:v>
                </c:pt>
                <c:pt idx="1">
                  <c:v>Bart</c:v>
                </c:pt>
                <c:pt idx="2">
                  <c:v>Roberta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0.37</c:v>
                </c:pt>
                <c:pt idx="1">
                  <c:v>0.36</c:v>
                </c:pt>
                <c:pt idx="2">
                  <c:v>0.34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5E6-4946-A705-6142B7B3084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Feels emo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Deberta</c:v>
                </c:pt>
                <c:pt idx="1">
                  <c:v>Bart</c:v>
                </c:pt>
                <c:pt idx="2">
                  <c:v>Roberta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0.38</c:v>
                </c:pt>
                <c:pt idx="1">
                  <c:v>0.36</c:v>
                </c:pt>
                <c:pt idx="2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5E6-4946-A705-6142B7B308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4936688"/>
        <c:axId val="454937344"/>
      </c:barChart>
      <c:catAx>
        <c:axId val="454936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4937344"/>
        <c:crosses val="autoZero"/>
        <c:auto val="1"/>
        <c:lblAlgn val="ctr"/>
        <c:lblOffset val="100"/>
        <c:noMultiLvlLbl val="0"/>
      </c:catAx>
      <c:valAx>
        <c:axId val="4549373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Macro</a:t>
                </a:r>
                <a:r>
                  <a:rPr lang="en-US" baseline="0" dirty="0" smtClean="0"/>
                  <a:t> average F1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4936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5129347948027608"/>
          <c:y val="0.91054483951956822"/>
          <c:w val="0.55149848089257136"/>
          <c:h val="8.766578044692316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822806172243143"/>
          <c:y val="0.17852199402287422"/>
          <c:w val="0.35960790088526973"/>
          <c:h val="0.649480181143742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Emo-s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synonyms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0.56999999999999995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3D-488B-93CB-C1BA2DEF9E3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Emotion-s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synonyms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23D-488B-93CB-C1BA2DEF9E3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Expr-s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synonyms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23D-488B-93CB-C1BA2DEF9E3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Feels-s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synonyms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0.56000000000000005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23D-488B-93CB-C1BA2DEF9E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4936688"/>
        <c:axId val="454937344"/>
      </c:barChart>
      <c:catAx>
        <c:axId val="454936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4937344"/>
        <c:crosses val="autoZero"/>
        <c:auto val="1"/>
        <c:lblAlgn val="ctr"/>
        <c:lblOffset val="100"/>
        <c:noMultiLvlLbl val="0"/>
      </c:catAx>
      <c:valAx>
        <c:axId val="454937344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Macro</a:t>
                </a:r>
                <a:r>
                  <a:rPr lang="en-US" baseline="0" dirty="0" smtClean="0"/>
                  <a:t> average F1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4936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1418566636763343"/>
          <c:y val="0.92133368562124152"/>
          <c:w val="0.49391993138665985"/>
          <c:h val="7.069932140204027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827994899442964"/>
          <c:y val="0.1466752672794783"/>
          <c:w val="0.40767320641596383"/>
          <c:h val="0.649480181143742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Emo name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emotions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0.54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E6-4190-A6BC-CDCF04263CC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Emotion propmt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emotions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E6-4190-A6BC-CDCF04263CC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Expr emo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emotions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BE6-4190-A6BC-CDCF04263CC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Feels emo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emotions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0.54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BE6-4190-A6BC-CDCF04263C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4936688"/>
        <c:axId val="454937344"/>
      </c:barChart>
      <c:catAx>
        <c:axId val="454936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4937344"/>
        <c:crosses val="autoZero"/>
        <c:auto val="1"/>
        <c:lblAlgn val="ctr"/>
        <c:lblOffset val="100"/>
        <c:noMultiLvlLbl val="0"/>
      </c:catAx>
      <c:valAx>
        <c:axId val="454937344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Macro</a:t>
                </a:r>
                <a:r>
                  <a:rPr lang="en-US" baseline="0" dirty="0" smtClean="0"/>
                  <a:t> average F1</a:t>
                </a:r>
                <a:endParaRPr lang="en-US" dirty="0"/>
              </a:p>
            </c:rich>
          </c:tx>
          <c:layout>
            <c:manualLayout>
              <c:xMode val="edge"/>
              <c:yMode val="edge"/>
              <c:x val="8.2856132972416729E-2"/>
              <c:y val="0.1798486493161148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4936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0519556086237106E-2"/>
          <c:y val="0.88942253848738317"/>
          <c:w val="0.6997373809433266"/>
          <c:h val="7.069932140204027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822806172243143"/>
          <c:y val="0.17852199402287422"/>
          <c:w val="0.35960790088526973"/>
          <c:h val="0.649480181143742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Emo-s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synonyms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0.32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18-48A8-AF57-281EE9369A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Emotion-s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synonyms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18-48A8-AF57-281EE9369A1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Expr-s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synonyms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518-48A8-AF57-281EE9369A1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Feels-s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synonyms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0.36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518-48A8-AF57-281EE9369A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4936688"/>
        <c:axId val="454937344"/>
      </c:barChart>
      <c:catAx>
        <c:axId val="454936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4937344"/>
        <c:crosses val="autoZero"/>
        <c:auto val="1"/>
        <c:lblAlgn val="ctr"/>
        <c:lblOffset val="100"/>
        <c:noMultiLvlLbl val="0"/>
      </c:catAx>
      <c:valAx>
        <c:axId val="454937344"/>
        <c:scaling>
          <c:orientation val="minMax"/>
          <c:max val="0.45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Macro</a:t>
                </a:r>
                <a:r>
                  <a:rPr lang="en-US" baseline="0" dirty="0" smtClean="0"/>
                  <a:t> average F1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4936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1418566636763343"/>
          <c:y val="0.92133368562124152"/>
          <c:w val="0.49391993138665985"/>
          <c:h val="7.069932140204027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225529695399579"/>
          <c:y val="0.15192253722536023"/>
          <c:w val="0.38891801714419871"/>
          <c:h val="0.649480181143742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Emo name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emotions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0.41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63-4819-BD38-B122E78E08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Emotion prompt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emotions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C63-4819-BD38-B122E78E087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Expr emo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emotions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C63-4819-BD38-B122E78E087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Feels emo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emotions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C63-4819-BD38-B122E78E08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4936688"/>
        <c:axId val="454937344"/>
      </c:barChart>
      <c:catAx>
        <c:axId val="454936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4937344"/>
        <c:crosses val="autoZero"/>
        <c:auto val="1"/>
        <c:lblAlgn val="ctr"/>
        <c:lblOffset val="100"/>
        <c:noMultiLvlLbl val="0"/>
      </c:catAx>
      <c:valAx>
        <c:axId val="454937344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Macro</a:t>
                </a:r>
                <a:r>
                  <a:rPr lang="en-US" baseline="0" dirty="0" smtClean="0"/>
                  <a:t> average F1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4936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92133364563854259"/>
          <c:w val="0.91713156309132782"/>
          <c:h val="7.069932140204027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822806172243143"/>
          <c:y val="0.17852199402287422"/>
          <c:w val="0.35960790088526973"/>
          <c:h val="0.649480181143742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Emo-s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synonyms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0.52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A3-4B7F-A4FC-226BB439B63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Emotion-s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synonyms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A3-4B7F-A4FC-226BB439B63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Expr-s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synonyms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0.57999999999999996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3A3-4B7F-A4FC-226BB439B63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Feels-s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synonyms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0.57999999999999996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3A3-4B7F-A4FC-226BB439B6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4936688"/>
        <c:axId val="454937344"/>
      </c:barChart>
      <c:catAx>
        <c:axId val="454936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4937344"/>
        <c:crosses val="autoZero"/>
        <c:auto val="1"/>
        <c:lblAlgn val="ctr"/>
        <c:lblOffset val="100"/>
        <c:noMultiLvlLbl val="0"/>
      </c:catAx>
      <c:valAx>
        <c:axId val="454937344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Macro</a:t>
                </a:r>
                <a:r>
                  <a:rPr lang="en-US" baseline="0" dirty="0" smtClean="0"/>
                  <a:t> average F1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4936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1418566636763343"/>
          <c:y val="0.92133368562124152"/>
          <c:w val="0.49391993138665985"/>
          <c:h val="7.069932140204027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822806172243143"/>
          <c:y val="0.17852199402287422"/>
          <c:w val="0.35960790088526973"/>
          <c:h val="0.649480181143742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Emo name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emotions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0.54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A3-4FC7-B030-99F0978F2CF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Emotion prompt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emotions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DA3-4FC7-B030-99F0978F2CF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Expr emo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emotions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DA3-4FC7-B030-99F0978F2CF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Feels emo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emotions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0.54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DA3-4FC7-B030-99F0978F2C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4936688"/>
        <c:axId val="454937344"/>
      </c:barChart>
      <c:catAx>
        <c:axId val="454936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4937344"/>
        <c:crosses val="autoZero"/>
        <c:auto val="1"/>
        <c:lblAlgn val="ctr"/>
        <c:lblOffset val="100"/>
        <c:noMultiLvlLbl val="0"/>
      </c:catAx>
      <c:valAx>
        <c:axId val="454937344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Macro</a:t>
                </a:r>
                <a:r>
                  <a:rPr lang="en-US" baseline="0" dirty="0" smtClean="0"/>
                  <a:t> average F1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4936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1418566636763343"/>
          <c:y val="0.92133368562124152"/>
          <c:w val="0.49391993138665985"/>
          <c:h val="7.069932140204027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336314384978945"/>
          <c:y val="0.18546405576026717"/>
          <c:w val="0.32659929534503701"/>
          <c:h val="0.649480181143742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Emo name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emotions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0.41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89-4B9F-A70A-B707FFE5C64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Emotion prompt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emotions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89-4B9F-A70A-B707FFE5C64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Expr emo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emotions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D89-4B9F-A70A-B707FFE5C64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Feels emo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emotions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D89-4B9F-A70A-B707FFE5C6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4936688"/>
        <c:axId val="454937344"/>
      </c:barChart>
      <c:catAx>
        <c:axId val="454936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4937344"/>
        <c:crosses val="autoZero"/>
        <c:auto val="1"/>
        <c:lblAlgn val="ctr"/>
        <c:lblOffset val="100"/>
        <c:noMultiLvlLbl val="0"/>
      </c:catAx>
      <c:valAx>
        <c:axId val="454937344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Macro</a:t>
                </a:r>
                <a:r>
                  <a:rPr lang="en-US" baseline="0" dirty="0" smtClean="0"/>
                  <a:t> average F1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4936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1418566636763343"/>
          <c:y val="0.92133368562124152"/>
          <c:w val="0.49391993138665985"/>
          <c:h val="7.069932140204027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822806172243143"/>
          <c:y val="0.17852199402287422"/>
          <c:w val="0.35960790088526973"/>
          <c:h val="0.649480181143742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Emo-s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synonyms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0.37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D2-47A7-82F1-5D594C810C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Emotion-s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synonyms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D2-47A7-82F1-5D594C810C0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Expr-s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synonyms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0.28999999999999998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CD2-47A7-82F1-5D594C810C0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Feels-s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Prompts of synonyms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0.34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CD2-47A7-82F1-5D594C810C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4936688"/>
        <c:axId val="454937344"/>
      </c:barChart>
      <c:catAx>
        <c:axId val="4549366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4937344"/>
        <c:crosses val="autoZero"/>
        <c:auto val="1"/>
        <c:lblAlgn val="ctr"/>
        <c:lblOffset val="100"/>
        <c:noMultiLvlLbl val="0"/>
      </c:catAx>
      <c:valAx>
        <c:axId val="454937344"/>
        <c:scaling>
          <c:orientation val="minMax"/>
          <c:max val="0.45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 smtClean="0"/>
                  <a:t>Macro</a:t>
                </a:r>
                <a:r>
                  <a:rPr lang="en-US" baseline="0" dirty="0" smtClean="0"/>
                  <a:t> average F1</a:t>
                </a:r>
                <a:endParaRPr lang="en-US" dirty="0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49366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1418566636763343"/>
          <c:y val="0.92133368562124152"/>
          <c:w val="0.49391993138665985"/>
          <c:h val="7.069932140204027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0.16298</cdr:x>
      <cdr:y>0.91943</cdr:y>
    </cdr:from>
    <cdr:to>
      <cdr:x>0.80939</cdr:x>
      <cdr:y>1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1334175" y="3764380"/>
          <a:ext cx="5291528" cy="32985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dirty="0" smtClean="0"/>
        </a:p>
        <a:p xmlns:a="http://schemas.openxmlformats.org/drawingml/2006/main">
          <a:r>
            <a:rPr lang="en-US" dirty="0" smtClean="0"/>
            <a:t>Figure 2: The results of emotion prompts (Tec dataset)</a:t>
          </a:r>
          <a:endParaRPr lang="en-US" sz="1100" dirty="0"/>
        </a:p>
      </cdr:txBody>
    </cdr:sp>
  </cdr:relSizeAnchor>
  <cdr:relSizeAnchor xmlns:cdr="http://schemas.openxmlformats.org/drawingml/2006/chartDrawing">
    <cdr:from>
      <cdr:x>0.10178</cdr:x>
      <cdr:y>0.90363</cdr:y>
    </cdr:from>
    <cdr:to>
      <cdr:x>0.79397</cdr:x>
      <cdr:y>1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833196" y="2933096"/>
          <a:ext cx="5666282" cy="31279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ctr"/>
          <a:endParaRPr lang="en-US" sz="1400" dirty="0" smtClean="0"/>
        </a:p>
        <a:p xmlns:a="http://schemas.openxmlformats.org/drawingml/2006/main">
          <a:pPr algn="ctr"/>
          <a:r>
            <a:rPr lang="en-US" sz="1400" dirty="0" smtClean="0"/>
            <a:t>Figure 2: The results of emotion prompts (Tec dataset) </a:t>
          </a:r>
        </a:p>
        <a:p xmlns:a="http://schemas.openxmlformats.org/drawingml/2006/main">
          <a:endParaRPr lang="en-US" sz="11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2dc1d8302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2dc1d8302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0465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014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300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40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747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2231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">
  <p:cSld name="CUSTOM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397284" y="48166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311700" y="738975"/>
            <a:ext cx="8520600" cy="39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179550" y="4843650"/>
            <a:ext cx="964500" cy="3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179550" y="4843650"/>
            <a:ext cx="964500" cy="3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738975"/>
            <a:ext cx="8520600" cy="39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179550" y="4843650"/>
            <a:ext cx="964500" cy="3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2190300" y="850600"/>
            <a:ext cx="6315900" cy="129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1047300" y="2675200"/>
            <a:ext cx="7049400" cy="148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311700" y="12468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-75" y="0"/>
            <a:ext cx="9144000" cy="5385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/>
          <p:nvPr/>
        </p:nvSpPr>
        <p:spPr>
          <a:xfrm>
            <a:off x="50" y="4883400"/>
            <a:ext cx="9144000" cy="2601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-75" y="4892700"/>
            <a:ext cx="1197600" cy="241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lt1"/>
                </a:solidFill>
              </a:rPr>
              <a:t>有次研@2024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397284" y="4816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</a:defRPr>
            </a:lvl1pPr>
            <a:lvl2pPr lvl="1" algn="r">
              <a:buNone/>
              <a:defRPr sz="1300">
                <a:solidFill>
                  <a:schemeClr val="lt1"/>
                </a:solidFill>
              </a:defRPr>
            </a:lvl2pPr>
            <a:lvl3pPr lvl="2" algn="r">
              <a:buNone/>
              <a:defRPr sz="1300">
                <a:solidFill>
                  <a:schemeClr val="lt1"/>
                </a:solidFill>
              </a:defRPr>
            </a:lvl3pPr>
            <a:lvl4pPr lvl="3" algn="r">
              <a:buNone/>
              <a:defRPr sz="1300">
                <a:solidFill>
                  <a:schemeClr val="lt1"/>
                </a:solidFill>
              </a:defRPr>
            </a:lvl4pPr>
            <a:lvl5pPr lvl="4" algn="r">
              <a:buNone/>
              <a:defRPr sz="1300">
                <a:solidFill>
                  <a:schemeClr val="lt1"/>
                </a:solidFill>
              </a:defRPr>
            </a:lvl5pPr>
            <a:lvl6pPr lvl="5" algn="r">
              <a:buNone/>
              <a:defRPr sz="1300">
                <a:solidFill>
                  <a:schemeClr val="lt1"/>
                </a:solidFill>
              </a:defRPr>
            </a:lvl6pPr>
            <a:lvl7pPr lvl="6" algn="r">
              <a:buNone/>
              <a:defRPr sz="1300">
                <a:solidFill>
                  <a:schemeClr val="lt1"/>
                </a:solidFill>
              </a:defRPr>
            </a:lvl7pPr>
            <a:lvl8pPr lvl="7" algn="r">
              <a:buNone/>
              <a:defRPr sz="1300">
                <a:solidFill>
                  <a:schemeClr val="lt1"/>
                </a:solidFill>
              </a:defRPr>
            </a:lvl8pPr>
            <a:lvl9pPr lvl="8" algn="r">
              <a:buNone/>
              <a:defRPr sz="1300"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5">
            <a:alphaModFix/>
          </a:blip>
          <a:srcRect t="3484" r="2865"/>
          <a:stretch/>
        </p:blipFill>
        <p:spPr>
          <a:xfrm>
            <a:off x="50" y="0"/>
            <a:ext cx="541957" cy="53849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578125"/>
            <a:ext cx="9144000" cy="17397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50" y="4883400"/>
            <a:ext cx="9144000" cy="2601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179550" y="4843650"/>
            <a:ext cx="9645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90000"/>
              </a:lnSpc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90000"/>
              </a:lnSpc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90000"/>
              </a:lnSpc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90000"/>
              </a:lnSpc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90000"/>
              </a:lnSpc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90000"/>
              </a:lnSpc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90000"/>
              </a:lnSpc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90000"/>
              </a:lnSpc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/>
              <a:t>page. </a:t>
            </a: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-75" y="4892700"/>
            <a:ext cx="1197600" cy="2415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solidFill>
                  <a:schemeClr val="lt1"/>
                </a:solidFill>
              </a:rPr>
              <a:t>有次研@2024</a:t>
            </a:r>
            <a:endParaRPr sz="1200">
              <a:solidFill>
                <a:schemeClr val="lt1"/>
              </a:solidFill>
            </a:endParaRPr>
          </a:p>
        </p:txBody>
      </p:sp>
      <p:pic>
        <p:nvPicPr>
          <p:cNvPr id="27" name="Google Shape;2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" y="4517909"/>
            <a:ext cx="2130970" cy="27849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/>
          <p:nvPr/>
        </p:nvSpPr>
        <p:spPr>
          <a:xfrm>
            <a:off x="0" y="4796388"/>
            <a:ext cx="3102246" cy="4725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000000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</p:sp>
      <p:sp>
        <p:nvSpPr>
          <p:cNvPr id="29" name="Google Shape;29;p5"/>
          <p:cNvSpPr txBox="1"/>
          <p:nvPr/>
        </p:nvSpPr>
        <p:spPr>
          <a:xfrm>
            <a:off x="1828800" y="789600"/>
            <a:ext cx="70494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5"/>
          <p:cNvSpPr txBox="1"/>
          <p:nvPr/>
        </p:nvSpPr>
        <p:spPr>
          <a:xfrm>
            <a:off x="170050" y="3732025"/>
            <a:ext cx="2932200" cy="8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2190300" y="850600"/>
            <a:ext cx="6315900" cy="12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1047350" y="2675200"/>
            <a:ext cx="7049400" cy="14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33" name="Google Shape;33;p5"/>
          <p:cNvPicPr preferRelativeResize="0"/>
          <p:nvPr/>
        </p:nvPicPr>
        <p:blipFill rotWithShape="1">
          <a:blip r:embed="rId4">
            <a:alphaModFix/>
          </a:blip>
          <a:srcRect t="3484" r="2865"/>
          <a:stretch/>
        </p:blipFill>
        <p:spPr>
          <a:xfrm>
            <a:off x="50" y="578125"/>
            <a:ext cx="1750879" cy="17397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aclanthology.org/2022.coling-1.592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aclanthology.org/D19-1404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sldNum" idx="12"/>
          </p:nvPr>
        </p:nvSpPr>
        <p:spPr>
          <a:xfrm>
            <a:off x="8634984" y="482712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1</a:t>
            </a:fld>
            <a:endParaRPr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 smtClean="0"/>
              <a:t>Prompt based zero shot emotion classification</a:t>
            </a:r>
            <a:endParaRPr lang="en-US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45886" y="2699657"/>
            <a:ext cx="536302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Defense of Master thesis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Gita </a:t>
            </a:r>
            <a:r>
              <a:rPr lang="en-US" dirty="0" err="1"/>
              <a:t>Tabe</a:t>
            </a:r>
            <a:r>
              <a:rPr lang="en-US" dirty="0"/>
              <a:t> </a:t>
            </a:r>
            <a:r>
              <a:rPr lang="en-US" dirty="0" err="1"/>
              <a:t>Jamaat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Student ID: 237-D8905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Supervisor: Professor Masayoshi </a:t>
            </a:r>
            <a:r>
              <a:rPr lang="en-US" dirty="0" err="1" smtClean="0"/>
              <a:t>Aritsugi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1600" b="1" dirty="0" smtClean="0"/>
              <a:t>outline</a:t>
            </a:r>
            <a:endParaRPr 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2</a:t>
            </a:fld>
            <a:endParaRPr lang="ja" altLang="en-US"/>
          </a:p>
        </p:txBody>
      </p:sp>
      <p:sp>
        <p:nvSpPr>
          <p:cNvPr id="6" name="Rectangle 5"/>
          <p:cNvSpPr/>
          <p:nvPr/>
        </p:nvSpPr>
        <p:spPr>
          <a:xfrm>
            <a:off x="555833" y="917489"/>
            <a:ext cx="7623717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</a:rPr>
              <a:t>Introduction </a:t>
            </a:r>
            <a:endParaRPr lang="en-US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endParaRPr lang="en-US" dirty="0" smtClean="0">
              <a:solidFill>
                <a:prstClr val="black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B</a:t>
            </a:r>
            <a:r>
              <a:rPr lang="en-US" dirty="0" smtClean="0">
                <a:solidFill>
                  <a:prstClr val="black"/>
                </a:solidFill>
              </a:rPr>
              <a:t>ackground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prstClr val="black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</a:rPr>
              <a:t>Research methods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prstClr val="black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</a:rPr>
              <a:t>Experiments, results and analysis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prstClr val="black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</a:rPr>
              <a:t>Conclusion and future work </a:t>
            </a:r>
            <a:endParaRPr lang="en-US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endParaRPr lang="en-US" dirty="0" smtClean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endParaRPr lang="en-US" dirty="0" smtClean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endParaRPr lang="en-US" dirty="0">
              <a:solidFill>
                <a:prstClr val="black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011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3</a:t>
            </a:fld>
            <a:endParaRPr lang="ja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18457" y="1992594"/>
            <a:ext cx="7264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smtClean="0">
                <a:solidFill>
                  <a:prstClr val="black"/>
                </a:solidFill>
              </a:rPr>
              <a:t>Introduction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2623960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1600" b="1" dirty="0" smtClean="0"/>
              <a:t>Introduction</a:t>
            </a:r>
            <a:endParaRPr 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4</a:t>
            </a:fld>
            <a:endParaRPr lang="ja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41829" y="1008743"/>
            <a:ext cx="7242629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Recent research works on emotion classification</a:t>
            </a:r>
          </a:p>
          <a:p>
            <a:endParaRPr lang="en-US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need predefined labels for classification.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It’s not possible to determine classes that have not been seen during training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 smtClean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smtClean="0"/>
              <a:t>Solution: zero shot classification</a:t>
            </a:r>
          </a:p>
          <a:p>
            <a:pPr>
              <a:lnSpc>
                <a:spcPct val="150000"/>
              </a:lnSpc>
            </a:pPr>
            <a:endParaRPr lang="en-US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Checking the entailment of text and emotions using pre-trained model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It’s possible to use descriptions or synonyms of emotions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750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1600" b="1" dirty="0" smtClean="0"/>
              <a:t>Problem statement</a:t>
            </a:r>
            <a:endParaRPr 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5</a:t>
            </a:fld>
            <a:endParaRPr lang="ja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20914" y="896265"/>
            <a:ext cx="8411386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The recent studies have disadvantages because of training on datasets with specific labels [1].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smtClean="0"/>
              <a:t>The idea of  zero shot classification can solve this problem by considering emotion as the text and doing textual emotion classification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smtClean="0"/>
              <a:t>Therefore, we can add templates at the beginning of emotions which are called prompts or use synonym of emotions by different strategies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20914" y="3897086"/>
            <a:ext cx="84113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[1] </a:t>
            </a:r>
            <a:r>
              <a:rPr lang="en-US" sz="1200" dirty="0" err="1" smtClean="0"/>
              <a:t>Angeliki</a:t>
            </a:r>
            <a:r>
              <a:rPr lang="en-US" sz="1200" dirty="0" smtClean="0"/>
              <a:t> </a:t>
            </a:r>
            <a:r>
              <a:rPr lang="en-US" sz="1200" dirty="0" err="1"/>
              <a:t>Lazaridou</a:t>
            </a:r>
            <a:r>
              <a:rPr lang="en-US" sz="1200" dirty="0"/>
              <a:t>, Georgiana </a:t>
            </a:r>
            <a:r>
              <a:rPr lang="en-US" sz="1200" dirty="0" err="1"/>
              <a:t>Dinu</a:t>
            </a:r>
            <a:r>
              <a:rPr lang="en-US" sz="1200" dirty="0"/>
              <a:t>, and Marco </a:t>
            </a:r>
            <a:r>
              <a:rPr lang="en-US" sz="1200" dirty="0" err="1"/>
              <a:t>Baroni</a:t>
            </a:r>
            <a:r>
              <a:rPr lang="en-US" sz="1200" dirty="0"/>
              <a:t>. 2015. "</a:t>
            </a:r>
            <a:r>
              <a:rPr lang="en-US" sz="1200" dirty="0" err="1"/>
              <a:t>Hubness</a:t>
            </a:r>
            <a:r>
              <a:rPr lang="en-US" sz="1200" dirty="0"/>
              <a:t> and Pollution: Delving into Cross-Space Mapping for Zero-Shot Learning". In Proceedings of the 53rd Annual Meeting of the Association for Computational Linguistics and the 7th International Joint Conference on Natural Language Processing (Volume 1: Long Papers), pages 270 280, Beijing, China. Association for Computational Linguistics.</a:t>
            </a:r>
          </a:p>
        </p:txBody>
      </p:sp>
    </p:spTree>
    <p:extLst>
      <p:ext uri="{BB962C8B-B14F-4D97-AF65-F5344CB8AC3E}">
        <p14:creationId xmlns:p14="http://schemas.microsoft.com/office/powerpoint/2010/main" val="2004922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6</a:t>
            </a:fld>
            <a:endParaRPr lang="ja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045029" y="2148929"/>
            <a:ext cx="692331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smtClean="0"/>
              <a:t>Background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1061441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1600" b="1" dirty="0" smtClean="0"/>
              <a:t>Emotion classification</a:t>
            </a:r>
            <a:endParaRPr 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7</a:t>
            </a:fld>
            <a:endParaRPr lang="ja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63600" y="1538623"/>
            <a:ext cx="851988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Emotion classification is one of the significant works in natural language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It maps textual units to emotion classes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emotion classes can be determined based on existing emotions in datasets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670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1600" b="1" dirty="0" smtClean="0"/>
              <a:t>Zero shot learning</a:t>
            </a:r>
            <a:endParaRPr 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8</a:t>
            </a:fld>
            <a:endParaRPr lang="ja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02342" y="1190171"/>
            <a:ext cx="832394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Determining classes </a:t>
            </a:r>
            <a:r>
              <a:rPr lang="en-US" dirty="0"/>
              <a:t>that have not been seen during training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</a:rPr>
              <a:t>Therefore, </a:t>
            </a:r>
            <a:r>
              <a:rPr lang="en-US" dirty="0">
                <a:solidFill>
                  <a:prstClr val="black"/>
                </a:solidFill>
              </a:rPr>
              <a:t>it’s a kind of unsupervised method.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</a:rPr>
              <a:t>We can obtain </a:t>
            </a:r>
            <a:r>
              <a:rPr lang="en-US" dirty="0">
                <a:solidFill>
                  <a:prstClr val="black"/>
                </a:solidFill>
              </a:rPr>
              <a:t>a model which doesn’t need any labeled training data</a:t>
            </a:r>
            <a:r>
              <a:rPr lang="en-US" dirty="0" smtClean="0">
                <a:solidFill>
                  <a:prstClr val="black"/>
                </a:solidFill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prstClr val="black"/>
                </a:solidFill>
              </a:rPr>
              <a:t>One approach for zero shot classification can be sequence pair classification</a:t>
            </a:r>
            <a:endParaRPr lang="en-US" dirty="0">
              <a:solidFill>
                <a:prstClr val="black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757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1600" b="1" dirty="0"/>
              <a:t>Natural language inference for zero shot emotion classification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9</a:t>
            </a:fld>
            <a:endParaRPr lang="ja" altLang="en-US"/>
          </a:p>
        </p:txBody>
      </p:sp>
      <p:sp>
        <p:nvSpPr>
          <p:cNvPr id="8" name="Rectangle 7"/>
          <p:cNvSpPr/>
          <p:nvPr/>
        </p:nvSpPr>
        <p:spPr>
          <a:xfrm>
            <a:off x="693457" y="1066028"/>
            <a:ext cx="796834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It is based on checking the entailment of 2 </a:t>
            </a:r>
            <a:r>
              <a:rPr lang="en-US" dirty="0" smtClean="0"/>
              <a:t>sentences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Therefore, </a:t>
            </a:r>
            <a:r>
              <a:rPr lang="en-US" dirty="0"/>
              <a:t>the emotion can be considered as a </a:t>
            </a:r>
            <a:r>
              <a:rPr lang="en-US" dirty="0" smtClean="0"/>
              <a:t>text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emotion can be represented in different descriptions or different </a:t>
            </a:r>
            <a:r>
              <a:rPr lang="en-US" dirty="0" smtClean="0"/>
              <a:t>terms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The models can check the entailment of emotions and texts</a:t>
            </a:r>
          </a:p>
        </p:txBody>
      </p:sp>
    </p:spTree>
    <p:extLst>
      <p:ext uri="{BB962C8B-B14F-4D97-AF65-F5344CB8AC3E}">
        <p14:creationId xmlns:p14="http://schemas.microsoft.com/office/powerpoint/2010/main" val="1054652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10</a:t>
            </a:fld>
            <a:endParaRPr lang="ja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25714" y="1611086"/>
            <a:ext cx="76272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smtClean="0"/>
              <a:t>Research methods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1627444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11</a:t>
            </a:fld>
            <a:endParaRPr lang="ja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04772" y="662955"/>
            <a:ext cx="815702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previous studies have shown the importance of prompt to enhance zero shot emotion classification by using pre-trained </a:t>
            </a:r>
            <a:r>
              <a:rPr lang="en-US" dirty="0" smtClean="0"/>
              <a:t>models and using prompts of emotions and synonyms of emotions [2]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studies have limitation in showing the effects of prompts clearly and designing the guided prompts 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this work, we have analyzed the results of using prompts and use more strategies of using synonyms of </a:t>
            </a:r>
            <a:r>
              <a:rPr lang="en-US" dirty="0" smtClean="0"/>
              <a:t>emotions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1284514" y="137886"/>
            <a:ext cx="58129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Proposed solution</a:t>
            </a:r>
            <a:endParaRPr lang="en-US" sz="1600" b="1" dirty="0"/>
          </a:p>
        </p:txBody>
      </p:sp>
      <p:sp>
        <p:nvSpPr>
          <p:cNvPr id="2" name="Rectangle 1"/>
          <p:cNvSpPr/>
          <p:nvPr/>
        </p:nvSpPr>
        <p:spPr>
          <a:xfrm>
            <a:off x="747485" y="4163429"/>
            <a:ext cx="80917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[2] </a:t>
            </a:r>
            <a:r>
              <a:rPr lang="en-US" sz="1200" dirty="0"/>
              <a:t>Flor Miriam Plaza-del-Arco, </a:t>
            </a:r>
            <a:r>
              <a:rPr lang="en-US" sz="1200" dirty="0" err="1"/>
              <a:t>María</a:t>
            </a:r>
            <a:r>
              <a:rPr lang="en-US" sz="1200" dirty="0"/>
              <a:t>-Teresa Martín-Valdivia, and Roman Klinger. 2022. </a:t>
            </a:r>
            <a:r>
              <a:rPr lang="en-US" sz="1200" u="sng" dirty="0">
                <a:hlinkClick r:id="rId2"/>
              </a:rPr>
              <a:t>Natural Language Inference Prompts for Zero-shot Emotion Classification in Text across Corpora</a:t>
            </a:r>
            <a:r>
              <a:rPr lang="en-US" sz="1200" dirty="0"/>
              <a:t>. In Proceedings of the 29th International Conference on Computational Linguistics, pages 6805–6817, </a:t>
            </a:r>
            <a:r>
              <a:rPr lang="en-US" sz="1200" dirty="0" err="1"/>
              <a:t>Gyeongju</a:t>
            </a:r>
            <a:r>
              <a:rPr lang="en-US" sz="1200" dirty="0"/>
              <a:t>, Republic of Korea. International Committee on Computational Linguistic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747485" y="3081636"/>
            <a:ext cx="1872344" cy="7184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Textual entailment of text and emotions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877857" y="3081731"/>
            <a:ext cx="1872344" cy="7184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Using prompts of emotions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992914" y="3067217"/>
            <a:ext cx="1712686" cy="77641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Using prompts of synonyms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7109172" y="3113457"/>
            <a:ext cx="1647371" cy="7764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Analyzing the results</a:t>
            </a:r>
            <a:endParaRPr lang="en-US" dirty="0"/>
          </a:p>
        </p:txBody>
      </p:sp>
      <p:cxnSp>
        <p:nvCxnSpPr>
          <p:cNvPr id="14" name="Straight Arrow Connector 13"/>
          <p:cNvCxnSpPr>
            <a:stCxn id="7" idx="3"/>
            <a:endCxn id="9" idx="1"/>
          </p:cNvCxnSpPr>
          <p:nvPr/>
        </p:nvCxnSpPr>
        <p:spPr>
          <a:xfrm>
            <a:off x="2619829" y="3440865"/>
            <a:ext cx="258028" cy="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4734886" y="3501667"/>
            <a:ext cx="2580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1" idx="3"/>
          </p:cNvCxnSpPr>
          <p:nvPr/>
        </p:nvCxnSpPr>
        <p:spPr>
          <a:xfrm flipV="1">
            <a:off x="6705600" y="3455426"/>
            <a:ext cx="39188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184400" y="3976914"/>
            <a:ext cx="200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2358571" y="3889876"/>
            <a:ext cx="42889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Figure 1: The framework of proposed method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8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1600" b="1" dirty="0" smtClean="0"/>
              <a:t>Natural language task</a:t>
            </a:r>
            <a:endParaRPr 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12</a:t>
            </a:fld>
            <a:endParaRPr lang="ja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26821" y="573993"/>
                <a:ext cx="8890358" cy="4324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 smtClean="0"/>
                  <a:t>It is based on checking the entailment of 2 sentences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 smtClean="0"/>
                  <a:t>         function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2)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/>
                        <m:t>s</m:t>
                      </m:r>
                      <m:r>
                        <m:rPr>
                          <m:nor/>
                        </m:rPr>
                        <a:rPr lang="en-US" dirty="0"/>
                        <m:t>1: </m:t>
                      </m:r>
                      <m:r>
                        <m:rPr>
                          <m:nor/>
                        </m:rPr>
                        <a:rPr lang="en-US" dirty="0"/>
                        <m:t>premise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s</m:t>
                      </m:r>
                      <m:r>
                        <m:rPr>
                          <m:nor/>
                        </m:rPr>
                        <a:rPr lang="en-US" dirty="0"/>
                        <m:t>2: </m:t>
                      </m:r>
                      <m:r>
                        <m:rPr>
                          <m:nor/>
                        </m:rPr>
                        <a:rPr lang="en-US" dirty="0"/>
                        <m:t>hypothesis</m:t>
                      </m:r>
                      <m:r>
                        <m:rPr>
                          <m:nor/>
                        </m:rPr>
                        <a:rPr lang="en-US" dirty="0"/>
                        <m:t>  </m:t>
                      </m:r>
                      <m:r>
                        <m:rPr>
                          <m:nor/>
                        </m:rPr>
                        <a:rPr lang="en-US" dirty="0"/>
                        <m:t>C</m:t>
                      </m:r>
                      <m:r>
                        <m:rPr>
                          <m:nor/>
                        </m:rPr>
                        <a:rPr lang="en-US" dirty="0"/>
                        <m:t>: </m:t>
                      </m:r>
                      <m:r>
                        <m:rPr>
                          <m:nor/>
                        </m:rPr>
                        <a:rPr lang="en-US" dirty="0"/>
                        <m:t>contradiction</m:t>
                      </m:r>
                      <m:r>
                        <m:rPr>
                          <m:nor/>
                        </m:rPr>
                        <a:rPr lang="en-US" dirty="0"/>
                        <m:t> ,</m:t>
                      </m:r>
                      <m:r>
                        <m:rPr>
                          <m:nor/>
                        </m:rPr>
                        <a:rPr lang="en-US" dirty="0"/>
                        <m:t>N</m:t>
                      </m:r>
                      <m:r>
                        <m:rPr>
                          <m:nor/>
                        </m:rPr>
                        <a:rPr lang="en-US" dirty="0"/>
                        <m:t>: </m:t>
                      </m:r>
                      <m:r>
                        <m:rPr>
                          <m:nor/>
                        </m:rPr>
                        <a:rPr lang="en-US" dirty="0"/>
                        <m:t>neutral</m:t>
                      </m:r>
                      <m:r>
                        <m:rPr>
                          <m:nor/>
                        </m:rPr>
                        <a:rPr lang="en-US" dirty="0"/>
                        <m:t> </m:t>
                      </m:r>
                      <m:r>
                        <m:rPr>
                          <m:nor/>
                        </m:rPr>
                        <a:rPr lang="en-US" dirty="0"/>
                        <m:t>output</m:t>
                      </m:r>
                      <m:r>
                        <m:rPr>
                          <m:nor/>
                        </m:rPr>
                        <a:rPr lang="en-US" dirty="0"/>
                        <m:t>, </m:t>
                      </m:r>
                      <m:r>
                        <m:rPr>
                          <m:nor/>
                        </m:rPr>
                        <a:rPr lang="en-US" dirty="0"/>
                        <m:t>E</m:t>
                      </m:r>
                      <m:r>
                        <m:rPr>
                          <m:nor/>
                        </m:rPr>
                        <a:rPr lang="en-US" dirty="0"/>
                        <m:t>: </m:t>
                      </m:r>
                      <m:r>
                        <m:rPr>
                          <m:nor/>
                        </m:rPr>
                        <a:rPr lang="en-US" dirty="0"/>
                        <m:t>entailment</m:t>
                      </m:r>
                    </m:oMath>
                  </m:oMathPara>
                </a14:m>
                <a:endParaRPr lang="en-US" dirty="0" smtClean="0"/>
              </a:p>
              <a:p>
                <a:pPr>
                  <a:lnSpc>
                    <a:spcPct val="150000"/>
                  </a:lnSpc>
                </a:pPr>
                <a:r>
                  <a:rPr lang="en-US" dirty="0" smtClean="0"/>
                  <a:t>Text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 smtClean="0"/>
                  <a:t>    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E</a:t>
                </a:r>
                <a:r>
                  <a:rPr lang="en-US" dirty="0" smtClean="0"/>
                  <a:t>motion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 smtClean="0"/>
                  <a:t>                                   Figure 2: Textual entailment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 smtClean="0"/>
                  <a:t>     The entailment shows how much the text to be classified and emotions are related to each other.</a:t>
                </a:r>
                <a:endParaRPr lang="en-US" dirty="0"/>
              </a:p>
              <a:p>
                <a:pPr>
                  <a:lnSpc>
                    <a:spcPct val="150000"/>
                  </a:lnSpc>
                </a:pPr>
                <a:endParaRPr lang="en-US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Only the scores of contradiction and entailment are considered as a </a:t>
                </a:r>
                <a:r>
                  <a:rPr lang="en-US" dirty="0" smtClean="0"/>
                  <a:t>vector</a:t>
                </a:r>
                <a:endParaRPr lang="en-US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The </a:t>
                </a:r>
                <a:r>
                  <a:rPr lang="en-US" dirty="0" err="1"/>
                  <a:t>unnormalized</a:t>
                </a:r>
                <a:r>
                  <a:rPr lang="en-US" dirty="0"/>
                  <a:t> scores of </a:t>
                </a:r>
                <a:r>
                  <a:rPr lang="en-US" dirty="0" smtClean="0"/>
                  <a:t>contradiction </a:t>
                </a:r>
                <a:r>
                  <a:rPr lang="en-US" dirty="0"/>
                  <a:t>and entailment are converted to </a:t>
                </a:r>
                <a:r>
                  <a:rPr lang="en-US" dirty="0" smtClean="0"/>
                  <a:t>probabilities</a:t>
                </a:r>
                <a:endParaRPr lang="en-US" dirty="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The emotion </a:t>
                </a:r>
                <a:r>
                  <a:rPr lang="en-US" dirty="0" smtClean="0"/>
                  <a:t>with the </a:t>
                </a:r>
                <a:r>
                  <a:rPr lang="en-US" dirty="0"/>
                  <a:t>highest entailment probability is considered </a:t>
                </a:r>
                <a:r>
                  <a:rPr lang="en-US" dirty="0" smtClean="0"/>
                  <a:t>as the </a:t>
                </a:r>
                <a:r>
                  <a:rPr lang="en-US" dirty="0"/>
                  <a:t>predicted emotion</a:t>
                </a:r>
              </a:p>
              <a:p>
                <a:pPr>
                  <a:lnSpc>
                    <a:spcPct val="15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821" y="573993"/>
                <a:ext cx="8890358" cy="4324582"/>
              </a:xfrm>
              <a:prstGeom prst="rect">
                <a:avLst/>
              </a:prstGeom>
              <a:blipFill>
                <a:blip r:embed="rId3"/>
                <a:stretch>
                  <a:fillRect l="-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1817913" y="1741714"/>
            <a:ext cx="2373086" cy="78377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Model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856343" y="1844573"/>
            <a:ext cx="94705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965201" y="2396150"/>
            <a:ext cx="852712" cy="14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190999" y="1844574"/>
            <a:ext cx="12228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3" idx="3"/>
          </p:cNvCxnSpPr>
          <p:nvPr/>
        </p:nvCxnSpPr>
        <p:spPr>
          <a:xfrm>
            <a:off x="4190999" y="2133600"/>
            <a:ext cx="1164772" cy="7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227285" y="2409696"/>
            <a:ext cx="1128486" cy="20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99099" y="1696512"/>
            <a:ext cx="1865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Contradiction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529943" y="2004289"/>
            <a:ext cx="13498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Neutral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5499099" y="2312066"/>
            <a:ext cx="10631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Entailment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66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1600" b="1" dirty="0" smtClean="0"/>
              <a:t>Prompt generation</a:t>
            </a:r>
            <a:endParaRPr 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13</a:t>
            </a:fld>
            <a:endParaRPr lang="ja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60900" y="720302"/>
            <a:ext cx="82949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Since the emotion can be considered as text in zero-shot classification, it’s possible to add templates at the beginning of the emotions and use different descriptions of emotions which are called prompts [3].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763180"/>
              </p:ext>
            </p:extLst>
          </p:nvPr>
        </p:nvGraphicFramePr>
        <p:xfrm>
          <a:off x="812800" y="1717170"/>
          <a:ext cx="6096000" cy="229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69310409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823616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119236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prompt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example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8735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emotion name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emotion 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disgust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660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emotion prompt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“The emotion is”+ emotion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 smtClean="0"/>
                        <a:t>The emotion is disgust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9108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expr emo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“This text expresses”+ emotion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This text expresses disgust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32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feels emo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“This person feels”+ emotion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This person feels disgusted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594659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865085" y="1452679"/>
            <a:ext cx="2939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Table 1: prompts of emotions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60900" y="4189393"/>
            <a:ext cx="87161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[3] </a:t>
            </a:r>
            <a:r>
              <a:rPr lang="en-US" sz="1200" dirty="0" err="1"/>
              <a:t>Wenpeng</a:t>
            </a:r>
            <a:r>
              <a:rPr lang="en-US" sz="1200" dirty="0"/>
              <a:t> Yin, Jamaal Hay, and Dan Roth. 2019. </a:t>
            </a:r>
            <a:r>
              <a:rPr lang="en-US" sz="1200" u="sng" dirty="0">
                <a:hlinkClick r:id="rId2"/>
              </a:rPr>
              <a:t>Benchmarking Zero-shot Text Classification: Datasets, Evaluation and Entailment Approach</a:t>
            </a:r>
            <a:r>
              <a:rPr lang="en-US" sz="1200" dirty="0"/>
              <a:t>. In Proceedings of the 2019 Conference on Empirical Methods in Natural Language Processing and the 9th International Joint Conference on Natural Language Processing (EMNLP-IJCNLP), pages 3914–3923, Hong Kong, China. Association for Computational Linguistics.</a:t>
            </a:r>
          </a:p>
        </p:txBody>
      </p:sp>
    </p:spTree>
    <p:extLst>
      <p:ext uri="{BB962C8B-B14F-4D97-AF65-F5344CB8AC3E}">
        <p14:creationId xmlns:p14="http://schemas.microsoft.com/office/powerpoint/2010/main" val="914194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1600" b="1" dirty="0" smtClean="0"/>
              <a:t>Using synonyms in prompts of emotions</a:t>
            </a:r>
            <a:endParaRPr 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14</a:t>
            </a:fld>
            <a:endParaRPr lang="ja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32229" y="616878"/>
            <a:ext cx="89117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It’s also possible to use different synonyms of emotions.</a:t>
            </a:r>
          </a:p>
          <a:p>
            <a:r>
              <a:rPr lang="en-US" dirty="0" smtClean="0"/>
              <a:t>So, we can replace the synonyms of emotions in prompts and add templates at the beginning of synonyms [4].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785570"/>
              </p:ext>
            </p:extLst>
          </p:nvPr>
        </p:nvGraphicFramePr>
        <p:xfrm>
          <a:off x="732971" y="1548896"/>
          <a:ext cx="6096000" cy="272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9912699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3277907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886985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Prompt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example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373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emo-s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Emotion synonym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happy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323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expr-s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“This text </a:t>
                      </a:r>
                      <a:r>
                        <a:rPr lang="en-US" dirty="0" err="1" smtClean="0"/>
                        <a:t>expresses”+emotion</a:t>
                      </a:r>
                      <a:r>
                        <a:rPr lang="en-US" dirty="0" smtClean="0"/>
                        <a:t> synonym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This text expresses happiness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657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feels-s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“This person </a:t>
                      </a:r>
                      <a:r>
                        <a:rPr lang="en-US" dirty="0" err="1" smtClean="0"/>
                        <a:t>feels”+emotion</a:t>
                      </a:r>
                      <a:r>
                        <a:rPr lang="en-US" dirty="0" smtClean="0"/>
                        <a:t> synonym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This person feels happy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596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emotion-s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“The emotion is”+ emotion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synonym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The emotion is happiness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100268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973943" y="1263208"/>
            <a:ext cx="2598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Table 2: prompts of synonyms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74754" y="4271776"/>
            <a:ext cx="8357017" cy="6708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200" dirty="0" smtClean="0">
                <a:latin typeface="+mn-lt"/>
                <a:ea typeface="Yu Mincho" panose="02020400000000000000" pitchFamily="18" charset="-128"/>
                <a:cs typeface="Calibri" panose="020F0502020204030204" pitchFamily="34" charset="0"/>
              </a:rPr>
              <a:t>[4]</a:t>
            </a:r>
            <a:r>
              <a:rPr lang="en-US" sz="1200" dirty="0" smtClean="0">
                <a:solidFill>
                  <a:srgbClr val="212529"/>
                </a:solidFill>
                <a:latin typeface="+mn-lt"/>
                <a:ea typeface="Yu Mincho" panose="02020400000000000000" pitchFamily="18" charset="-128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212529"/>
                </a:solidFill>
                <a:latin typeface="+mn-lt"/>
                <a:ea typeface="Yu Mincho" panose="02020400000000000000" pitchFamily="18" charset="-128"/>
                <a:cs typeface="Calibri" panose="020F0502020204030204" pitchFamily="34" charset="0"/>
              </a:rPr>
              <a:t>Bareiss</a:t>
            </a:r>
            <a:r>
              <a:rPr lang="en-US" sz="1200" dirty="0">
                <a:solidFill>
                  <a:srgbClr val="212529"/>
                </a:solidFill>
                <a:latin typeface="+mn-lt"/>
                <a:ea typeface="Yu Mincho" panose="02020400000000000000" pitchFamily="18" charset="-128"/>
                <a:cs typeface="Calibri" panose="020F0502020204030204" pitchFamily="34" charset="0"/>
              </a:rPr>
              <a:t>  Patrick; Klinger Roman; Barnes Jeremy. 2024: English Prompts are Better for NLI-based Zero-Shot Emotion Classification than Target-Language Prompts, in: WWW ’24:</a:t>
            </a:r>
            <a:r>
              <a:rPr lang="en-US" sz="1200" i="1" dirty="0">
                <a:solidFill>
                  <a:srgbClr val="212529"/>
                </a:solidFill>
                <a:latin typeface="+mn-lt"/>
                <a:ea typeface="Yu Mincho" panose="02020400000000000000" pitchFamily="18" charset="-128"/>
                <a:cs typeface="Calibri" panose="020F0502020204030204" pitchFamily="34" charset="0"/>
              </a:rPr>
              <a:t> </a:t>
            </a:r>
            <a:r>
              <a:rPr lang="en-US" sz="1200" dirty="0">
                <a:solidFill>
                  <a:srgbClr val="212529"/>
                </a:solidFill>
                <a:latin typeface="+mn-lt"/>
                <a:ea typeface="Yu Mincho" panose="02020400000000000000" pitchFamily="18" charset="-128"/>
                <a:cs typeface="Calibri" panose="020F0502020204030204" pitchFamily="34" charset="0"/>
              </a:rPr>
              <a:t>Companion Proceedings of the ACM on Web Conference 2024, New York,</a:t>
            </a:r>
            <a:endParaRPr lang="en-US" sz="1200" dirty="0">
              <a:effectLst/>
              <a:latin typeface="+mn-lt"/>
              <a:ea typeface="Yu Mincho" panose="02020400000000000000" pitchFamily="18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354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1600" b="1" dirty="0" smtClean="0"/>
              <a:t>Synonyms of emotions</a:t>
            </a:r>
            <a:endParaRPr 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15</a:t>
            </a:fld>
            <a:endParaRPr lang="ja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372799"/>
              </p:ext>
            </p:extLst>
          </p:nvPr>
        </p:nvGraphicFramePr>
        <p:xfrm>
          <a:off x="311700" y="942703"/>
          <a:ext cx="8456644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8322">
                  <a:extLst>
                    <a:ext uri="{9D8B030D-6E8A-4147-A177-3AD203B41FA5}">
                      <a16:colId xmlns:a16="http://schemas.microsoft.com/office/drawing/2014/main" val="1825852549"/>
                    </a:ext>
                  </a:extLst>
                </a:gridCol>
                <a:gridCol w="4228322">
                  <a:extLst>
                    <a:ext uri="{9D8B030D-6E8A-4147-A177-3AD203B41FA5}">
                      <a16:colId xmlns:a16="http://schemas.microsoft.com/office/drawing/2014/main" val="20237590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emotion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synonyms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590363"/>
                  </a:ext>
                </a:extLst>
              </a:tr>
              <a:tr h="437810">
                <a:tc>
                  <a:txBody>
                    <a:bodyPr/>
                    <a:lstStyle/>
                    <a:p>
                      <a:r>
                        <a:rPr lang="en-US" dirty="0" smtClean="0"/>
                        <a:t>sadness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sadness, unhappiness, grief, sorrow, loneliness, depression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457880"/>
                  </a:ext>
                </a:extLst>
              </a:tr>
              <a:tr h="437810">
                <a:tc>
                  <a:txBody>
                    <a:bodyPr/>
                    <a:lstStyle/>
                    <a:p>
                      <a:r>
                        <a:rPr lang="en-US" dirty="0" smtClean="0"/>
                        <a:t>joy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joy, an achievement, pleasure, the awesome, happiness, the blessing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971849"/>
                  </a:ext>
                </a:extLst>
              </a:tr>
              <a:tr h="257535">
                <a:tc>
                  <a:txBody>
                    <a:bodyPr/>
                    <a:lstStyle/>
                    <a:p>
                      <a:r>
                        <a:rPr lang="en-US" dirty="0" smtClean="0"/>
                        <a:t>anger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anger, annoyance, rage, outrage, fury, irritation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8599901"/>
                  </a:ext>
                </a:extLst>
              </a:tr>
              <a:tr h="437810">
                <a:tc>
                  <a:txBody>
                    <a:bodyPr/>
                    <a:lstStyle/>
                    <a:p>
                      <a:r>
                        <a:rPr lang="en-US" dirty="0" smtClean="0"/>
                        <a:t>disgust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disgust, loathing, bitterness, ugliness, repugnance, revulsion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755806"/>
                  </a:ext>
                </a:extLst>
              </a:tr>
              <a:tr h="257535">
                <a:tc>
                  <a:txBody>
                    <a:bodyPr/>
                    <a:lstStyle/>
                    <a:p>
                      <a:r>
                        <a:rPr lang="en-US" dirty="0" smtClean="0"/>
                        <a:t>fear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fear, horror, anxiety, terror, dread, scare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770206"/>
                  </a:ext>
                </a:extLst>
              </a:tr>
              <a:tr h="437810">
                <a:tc>
                  <a:txBody>
                    <a:bodyPr/>
                    <a:lstStyle/>
                    <a:p>
                      <a:r>
                        <a:rPr lang="en-US" dirty="0" smtClean="0"/>
                        <a:t>surprise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surprise, astonishment, amazement, impression, perplexity, shock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64499"/>
                  </a:ext>
                </a:extLst>
              </a:tr>
              <a:tr h="437810">
                <a:tc>
                  <a:txBody>
                    <a:bodyPr/>
                    <a:lstStyle/>
                    <a:p>
                      <a:r>
                        <a:rPr lang="en-US" dirty="0" smtClean="0"/>
                        <a:t>shame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shame, humiliation, embarrassment, disgrace, dishonor, discredit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7374583"/>
                  </a:ext>
                </a:extLst>
              </a:tr>
              <a:tr h="437810">
                <a:tc>
                  <a:txBody>
                    <a:bodyPr/>
                    <a:lstStyle/>
                    <a:p>
                      <a:r>
                        <a:rPr lang="en-US" dirty="0" smtClean="0"/>
                        <a:t>guilt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guilt, culpability, responsibility, blameworthy, misconduct, regret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73391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605315" y="603813"/>
            <a:ext cx="31060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Table 3: synonyms of emotions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675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1600" b="1" dirty="0" smtClean="0"/>
              <a:t>Strategies to use synonyms of emotions</a:t>
            </a:r>
            <a:endParaRPr 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16</a:t>
            </a:fld>
            <a:endParaRPr lang="ja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58800" y="899886"/>
            <a:ext cx="805542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Checking the entailment of different synonyms for each emotion and getting average of their entailment probabilities as the entailment probability of the emotion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Checking the entailment of different synonyms for each </a:t>
            </a:r>
            <a:r>
              <a:rPr lang="en-US" dirty="0" smtClean="0"/>
              <a:t>emotion and setting maximum of them as the entailment probability of the emotion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Combining the results of two methods by getting average of the entailment probabilities of each emotion in two results of two previous methods 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299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17</a:t>
            </a:fld>
            <a:endParaRPr lang="ja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56343" y="2039258"/>
            <a:ext cx="68870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smtClean="0"/>
              <a:t>Experiment, results and analysis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564856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1600" b="1" dirty="0" smtClean="0"/>
              <a:t>Datasets and Models</a:t>
            </a:r>
            <a:endParaRPr 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18</a:t>
            </a:fld>
            <a:endParaRPr lang="ja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49942" y="863601"/>
            <a:ext cx="8055429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Datasets: 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Isear</a:t>
            </a:r>
            <a:r>
              <a:rPr lang="en-US" dirty="0"/>
              <a:t> dataset: 7515 data     Labels: anger, disgust, fear, guilt, joy, sadness, shame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Tec dataset: 21051 data    Labels: anger, disgust, fear, joy, sadness, surprise </a:t>
            </a:r>
          </a:p>
          <a:p>
            <a:pPr>
              <a:lnSpc>
                <a:spcPct val="150000"/>
              </a:lnSpc>
            </a:pPr>
            <a:r>
              <a:rPr lang="en-US" dirty="0"/>
              <a:t>  Preprocessing datasets before doing classification:</a:t>
            </a:r>
          </a:p>
          <a:p>
            <a:pPr>
              <a:lnSpc>
                <a:spcPct val="150000"/>
              </a:lnSpc>
            </a:pPr>
            <a:r>
              <a:rPr lang="en-US" dirty="0"/>
              <a:t>  Removing some signs such as ; , :, *, # , = , (, ), &amp; and integers</a:t>
            </a:r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Pre_trained</a:t>
            </a:r>
            <a:r>
              <a:rPr lang="en-US" dirty="0"/>
              <a:t> </a:t>
            </a:r>
            <a:r>
              <a:rPr lang="en-US" dirty="0" smtClean="0"/>
              <a:t>Bert based </a:t>
            </a:r>
            <a:r>
              <a:rPr lang="en-US" dirty="0"/>
              <a:t>models (publicly available within hugging face python library):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Deberta</a:t>
            </a:r>
            <a:r>
              <a:rPr lang="en-US" dirty="0"/>
              <a:t>: </a:t>
            </a:r>
            <a:r>
              <a:rPr lang="en-US" dirty="0" err="1"/>
              <a:t>microsoft</a:t>
            </a:r>
            <a:r>
              <a:rPr lang="en-US" dirty="0"/>
              <a:t>/deberta-v2-xlarge-mnli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Roberta: </a:t>
            </a:r>
            <a:r>
              <a:rPr lang="en-US" dirty="0" err="1"/>
              <a:t>roberta</a:t>
            </a:r>
            <a:r>
              <a:rPr lang="en-US" dirty="0"/>
              <a:t>-large-</a:t>
            </a:r>
            <a:r>
              <a:rPr lang="en-US" dirty="0" err="1"/>
              <a:t>mnli</a:t>
            </a:r>
            <a:r>
              <a:rPr lang="en-US" dirty="0"/>
              <a:t>,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Bart: </a:t>
            </a:r>
            <a:r>
              <a:rPr lang="en-US" dirty="0" err="1"/>
              <a:t>facebook</a:t>
            </a:r>
            <a:r>
              <a:rPr lang="en-US" dirty="0"/>
              <a:t>/</a:t>
            </a:r>
            <a:r>
              <a:rPr lang="en-US" dirty="0" err="1"/>
              <a:t>bart</a:t>
            </a:r>
            <a:r>
              <a:rPr lang="en-US" dirty="0"/>
              <a:t>-large-</a:t>
            </a:r>
            <a:r>
              <a:rPr lang="en-US" dirty="0" err="1"/>
              <a:t>mnli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147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1600" b="1" dirty="0" smtClean="0"/>
              <a:t>Results of prompts of emotions (</a:t>
            </a:r>
            <a:r>
              <a:rPr lang="en-US" sz="1600" b="1" dirty="0" err="1" smtClean="0"/>
              <a:t>Isear</a:t>
            </a:r>
            <a:r>
              <a:rPr lang="en-US" sz="1600" b="1" dirty="0" smtClean="0"/>
              <a:t> dataset)</a:t>
            </a:r>
            <a:endParaRPr 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19</a:t>
            </a:fld>
            <a:endParaRPr lang="ja" altLang="en-US"/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2865538300"/>
              </p:ext>
            </p:extLst>
          </p:nvPr>
        </p:nvGraphicFramePr>
        <p:xfrm>
          <a:off x="515650" y="1456678"/>
          <a:ext cx="7663900" cy="2765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Rectangle 11"/>
          <p:cNvSpPr/>
          <p:nvPr/>
        </p:nvSpPr>
        <p:spPr>
          <a:xfrm>
            <a:off x="405091" y="616875"/>
            <a:ext cx="9296400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When </a:t>
            </a:r>
            <a:r>
              <a:rPr lang="en-US" dirty="0"/>
              <a:t>using </a:t>
            </a:r>
            <a:r>
              <a:rPr lang="en-US" dirty="0" err="1"/>
              <a:t>Deberta</a:t>
            </a:r>
            <a:r>
              <a:rPr lang="en-US" dirty="0"/>
              <a:t> </a:t>
            </a:r>
            <a:r>
              <a:rPr lang="en-US" dirty="0" smtClean="0"/>
              <a:t>model, emotion prompt and expr emo could lead to improvement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When </a:t>
            </a:r>
            <a:r>
              <a:rPr lang="en-US" dirty="0"/>
              <a:t>using Bart </a:t>
            </a:r>
            <a:r>
              <a:rPr lang="en-US" dirty="0" smtClean="0"/>
              <a:t>model, expr emo </a:t>
            </a:r>
            <a:r>
              <a:rPr lang="en-US" dirty="0"/>
              <a:t>could lead to improvement.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341855" y="4257171"/>
            <a:ext cx="5508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Figure 3: The results prompts of emotions (</a:t>
            </a:r>
            <a:r>
              <a:rPr lang="en-US" dirty="0" err="1" smtClean="0"/>
              <a:t>Isear</a:t>
            </a:r>
            <a:r>
              <a:rPr lang="en-US" dirty="0" smtClean="0"/>
              <a:t> dataset) </a:t>
            </a:r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31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306" y="-23108"/>
            <a:ext cx="8520600" cy="572700"/>
          </a:xfrm>
        </p:spPr>
        <p:txBody>
          <a:bodyPr/>
          <a:lstStyle/>
          <a:p>
            <a:pPr algn="ctr">
              <a:buNone/>
            </a:pPr>
            <a:r>
              <a:rPr lang="en-US" sz="1600" b="1" dirty="0"/>
              <a:t>Results of </a:t>
            </a:r>
            <a:r>
              <a:rPr lang="en-US" sz="1600" b="1" dirty="0" smtClean="0"/>
              <a:t>prompts of emotions (Tec dataset)</a:t>
            </a:r>
            <a:endParaRPr 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20</a:t>
            </a:fld>
            <a:endParaRPr lang="ja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41737" y="3462515"/>
            <a:ext cx="83501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dirty="0" smtClean="0"/>
          </a:p>
          <a:p>
            <a:pPr lvl="0"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.</a:t>
            </a:r>
            <a:endParaRPr lang="en-US" dirty="0"/>
          </a:p>
          <a:p>
            <a:pPr lvl="0">
              <a:lnSpc>
                <a:spcPct val="150000"/>
              </a:lnSpc>
            </a:pPr>
            <a:endParaRPr lang="en-US" dirty="0" smtClean="0"/>
          </a:p>
          <a:p>
            <a:pPr lvl="0">
              <a:lnSpc>
                <a:spcPct val="150000"/>
              </a:lnSpc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1784188356"/>
              </p:ext>
            </p:extLst>
          </p:nvPr>
        </p:nvGraphicFramePr>
        <p:xfrm>
          <a:off x="341271" y="1052548"/>
          <a:ext cx="7692623" cy="32294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270000" y="4181780"/>
            <a:ext cx="47026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Figure 4: </a:t>
            </a:r>
            <a:r>
              <a:rPr lang="en-US" dirty="0"/>
              <a:t>The results </a:t>
            </a:r>
            <a:r>
              <a:rPr lang="en-US" dirty="0" smtClean="0"/>
              <a:t>of </a:t>
            </a:r>
            <a:r>
              <a:rPr lang="en-US" dirty="0"/>
              <a:t>prompts </a:t>
            </a:r>
            <a:r>
              <a:rPr lang="en-US" dirty="0" smtClean="0"/>
              <a:t>of emotions(Tec </a:t>
            </a:r>
            <a:r>
              <a:rPr lang="en-US" dirty="0"/>
              <a:t>dataset)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0856" y="616857"/>
            <a:ext cx="67999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using Roberta model, the emotion prompt could lead to improvement</a:t>
            </a:r>
          </a:p>
        </p:txBody>
      </p:sp>
    </p:spTree>
    <p:extLst>
      <p:ext uri="{BB962C8B-B14F-4D97-AF65-F5344CB8AC3E}">
        <p14:creationId xmlns:p14="http://schemas.microsoft.com/office/powerpoint/2010/main" val="3543813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21</a:t>
            </a:fld>
            <a:endParaRPr lang="ja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17161" y="144166"/>
            <a:ext cx="79880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 smtClean="0"/>
              <a:t>The results of using synonyms of emotions (the average method, </a:t>
            </a:r>
            <a:r>
              <a:rPr lang="en-US" sz="1600" b="1" dirty="0" err="1" smtClean="0"/>
              <a:t>Isear</a:t>
            </a:r>
            <a:r>
              <a:rPr lang="en-US" sz="1600" b="1" dirty="0" smtClean="0"/>
              <a:t> dataset)</a:t>
            </a:r>
            <a:endParaRPr lang="en-US" sz="16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254000" y="669826"/>
            <a:ext cx="798285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The experiments of using synonyms of emotions have been done using only </a:t>
            </a:r>
            <a:r>
              <a:rPr lang="en-US" dirty="0" err="1" smtClean="0"/>
              <a:t>Deberta</a:t>
            </a:r>
            <a:r>
              <a:rPr lang="en-US" dirty="0" smtClean="0"/>
              <a:t> model.</a:t>
            </a:r>
            <a:endParaRPr lang="en-US" dirty="0"/>
          </a:p>
        </p:txBody>
      </p:sp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160510976"/>
              </p:ext>
            </p:extLst>
          </p:nvPr>
        </p:nvGraphicFramePr>
        <p:xfrm>
          <a:off x="130152" y="1272430"/>
          <a:ext cx="7005166" cy="28136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2325504575"/>
              </p:ext>
            </p:extLst>
          </p:nvPr>
        </p:nvGraphicFramePr>
        <p:xfrm>
          <a:off x="4245428" y="1372521"/>
          <a:ext cx="5587625" cy="2785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54000" y="1085324"/>
            <a:ext cx="86765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 average of entailment probabilities of synonyms could lead to little improvement for all prompts for the </a:t>
            </a:r>
            <a:r>
              <a:rPr lang="en-US" dirty="0" err="1"/>
              <a:t>Isear</a:t>
            </a:r>
            <a:r>
              <a:rPr lang="en-US" dirty="0"/>
              <a:t> dataset</a:t>
            </a: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17161" y="4106713"/>
            <a:ext cx="8289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Figure 5: Comparison of the results of using synonyms and using prompts of emotions (The average method, </a:t>
            </a:r>
            <a:r>
              <a:rPr lang="en-US" dirty="0" err="1" smtClean="0"/>
              <a:t>Isear</a:t>
            </a:r>
            <a:r>
              <a:rPr lang="en-US" dirty="0" smtClean="0"/>
              <a:t> dataset)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569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1600" b="1" dirty="0"/>
              <a:t>The results of using synonyms of </a:t>
            </a:r>
            <a:r>
              <a:rPr lang="en-US" sz="1600" b="1" dirty="0" smtClean="0"/>
              <a:t>emotions (the average method, Tec dataset)</a:t>
            </a:r>
            <a:endParaRPr 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22</a:t>
            </a:fld>
            <a:endParaRPr lang="ja" altLang="en-US"/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693071483"/>
              </p:ext>
            </p:extLst>
          </p:nvPr>
        </p:nvGraphicFramePr>
        <p:xfrm>
          <a:off x="167664" y="891162"/>
          <a:ext cx="5609415" cy="3132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476420" y="4301864"/>
            <a:ext cx="811805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07101" y="4137120"/>
            <a:ext cx="79297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Figure 6: Comparison of the results of using synonyms and using prompts of emotions (The average method, Tec dataset)</a:t>
            </a:r>
            <a:endParaRPr lang="en-US" dirty="0"/>
          </a:p>
        </p:txBody>
      </p:sp>
      <p:graphicFrame>
        <p:nvGraphicFramePr>
          <p:cNvPr id="12" name="Chart 11"/>
          <p:cNvGraphicFramePr/>
          <p:nvPr>
            <p:extLst>
              <p:ext uri="{D42A27DB-BD31-4B8C-83A1-F6EECF244321}">
                <p14:modId xmlns:p14="http://schemas.microsoft.com/office/powerpoint/2010/main" val="1373527742"/>
              </p:ext>
            </p:extLst>
          </p:nvPr>
        </p:nvGraphicFramePr>
        <p:xfrm>
          <a:off x="4274842" y="1023258"/>
          <a:ext cx="4766277" cy="29968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12159" y="679789"/>
            <a:ext cx="74465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 average of entailment probabilities of synonyms couldn’t lead improvement for Tec dataset. (Using prompts of emotion names have higher performance.)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78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1600" b="1" dirty="0"/>
              <a:t>The results of using synonyms of </a:t>
            </a:r>
            <a:r>
              <a:rPr lang="en-US" sz="1600" b="1" dirty="0" smtClean="0"/>
              <a:t>emotions( The maximum method, </a:t>
            </a:r>
            <a:r>
              <a:rPr lang="en-US" sz="1600" b="1" dirty="0" err="1" smtClean="0"/>
              <a:t>Isear</a:t>
            </a:r>
            <a:r>
              <a:rPr lang="en-US" sz="1600" b="1" dirty="0" smtClean="0"/>
              <a:t> dataset)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23</a:t>
            </a:fld>
            <a:endParaRPr lang="ja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18761" y="652923"/>
            <a:ext cx="8273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4176635088"/>
              </p:ext>
            </p:extLst>
          </p:nvPr>
        </p:nvGraphicFramePr>
        <p:xfrm>
          <a:off x="161796" y="1051136"/>
          <a:ext cx="5976675" cy="3132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/>
          <p:cNvGraphicFramePr/>
          <p:nvPr>
            <p:extLst>
              <p:ext uri="{D42A27DB-BD31-4B8C-83A1-F6EECF244321}">
                <p14:modId xmlns:p14="http://schemas.microsoft.com/office/powerpoint/2010/main" val="3642523828"/>
              </p:ext>
            </p:extLst>
          </p:nvPr>
        </p:nvGraphicFramePr>
        <p:xfrm>
          <a:off x="3624215" y="1051136"/>
          <a:ext cx="7774808" cy="3132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Rectangle 9"/>
          <p:cNvSpPr/>
          <p:nvPr/>
        </p:nvSpPr>
        <p:spPr>
          <a:xfrm>
            <a:off x="749509" y="4058384"/>
            <a:ext cx="814275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Figure 7: Comparison of the results of using synonyms and using prompts of emotions (The maximum method, </a:t>
            </a:r>
            <a:r>
              <a:rPr lang="en-US" dirty="0" err="1" smtClean="0"/>
              <a:t>Isear</a:t>
            </a:r>
            <a:r>
              <a:rPr lang="en-US" dirty="0" smtClean="0"/>
              <a:t> dataset)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31562" y="652923"/>
            <a:ext cx="82808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 maximum of entailment probabilities of synonyms could lead to improvement just for </a:t>
            </a:r>
            <a:r>
              <a:rPr lang="en-US" dirty="0" err="1"/>
              <a:t>feels_emo</a:t>
            </a:r>
            <a:r>
              <a:rPr lang="en-US" dirty="0"/>
              <a:t> prompt compared to using prompt of only emotion name for the first </a:t>
            </a:r>
            <a:r>
              <a:rPr lang="en-US" dirty="0" smtClean="0"/>
              <a:t>dataset.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56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674" y="20135"/>
            <a:ext cx="8520600" cy="572700"/>
          </a:xfrm>
        </p:spPr>
        <p:txBody>
          <a:bodyPr/>
          <a:lstStyle/>
          <a:p>
            <a:pPr algn="ctr">
              <a:buNone/>
            </a:pPr>
            <a:r>
              <a:rPr lang="en-US" sz="1600" b="1" dirty="0"/>
              <a:t>The results of using synonyms of </a:t>
            </a:r>
            <a:r>
              <a:rPr lang="en-US" sz="1600" b="1" dirty="0" smtClean="0"/>
              <a:t>emotions (The maximum method, Tec dataset)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24</a:t>
            </a:fld>
            <a:endParaRPr lang="ja" altLang="en-US"/>
          </a:p>
        </p:txBody>
      </p:sp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2824140437"/>
              </p:ext>
            </p:extLst>
          </p:nvPr>
        </p:nvGraphicFramePr>
        <p:xfrm>
          <a:off x="4099810" y="768003"/>
          <a:ext cx="7967273" cy="29037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59567" y="3916799"/>
            <a:ext cx="794038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Figure 8</a:t>
            </a:r>
            <a:r>
              <a:rPr lang="en-US" dirty="0" smtClean="0"/>
              <a:t>: </a:t>
            </a:r>
            <a:r>
              <a:rPr lang="en-US" dirty="0"/>
              <a:t>Comparison of the results of using synonyms and using emotion prompts (The maximum method, </a:t>
            </a:r>
            <a:r>
              <a:rPr lang="en-US" dirty="0" smtClean="0"/>
              <a:t>Tec dataset)</a:t>
            </a:r>
            <a:endParaRPr lang="en-US" dirty="0"/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2022554053"/>
              </p:ext>
            </p:extLst>
          </p:nvPr>
        </p:nvGraphicFramePr>
        <p:xfrm>
          <a:off x="289215" y="609375"/>
          <a:ext cx="6831113" cy="3132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01974" y="688689"/>
            <a:ext cx="8213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prompts of emotions have better performance.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198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1700" b="1" dirty="0" smtClean="0"/>
              <a:t>The result of combining two methods</a:t>
            </a:r>
            <a:endParaRPr lang="en-US" sz="17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25</a:t>
            </a:fld>
            <a:endParaRPr lang="ja" altLang="en-US"/>
          </a:p>
        </p:txBody>
      </p:sp>
      <p:sp>
        <p:nvSpPr>
          <p:cNvPr id="6" name="TextBox 5"/>
          <p:cNvSpPr txBox="1"/>
          <p:nvPr/>
        </p:nvSpPr>
        <p:spPr>
          <a:xfrm>
            <a:off x="471715" y="827315"/>
            <a:ext cx="800462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Since emotion-s prompt had better performance compared to other prompts, the results of two previous methods for this prompt have been combined by getting average of entailment probabilities of each emotion.</a:t>
            </a:r>
          </a:p>
          <a:p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Isear</a:t>
            </a:r>
            <a:r>
              <a:rPr lang="en-US" dirty="0"/>
              <a:t> dataset: Macro average F1: 0.64, accuracy:0.65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Tec dataset: Macro average F1: 0.37, accuracy:0.41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it could lead to a little improvement for the first dataset</a:t>
            </a:r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300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1600" b="1" dirty="0" smtClean="0"/>
              <a:t>The effects of prompts on context of emotions</a:t>
            </a:r>
            <a:endParaRPr 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26</a:t>
            </a:fld>
            <a:endParaRPr lang="ja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45886" y="1124523"/>
            <a:ext cx="75336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Sentence: I heard part of a conversation in which one talked very low about women. (from </a:t>
            </a:r>
            <a:r>
              <a:rPr lang="en-US" dirty="0" err="1"/>
              <a:t>Isear</a:t>
            </a:r>
            <a:r>
              <a:rPr lang="en-US" dirty="0"/>
              <a:t> dataset)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45886" y="689429"/>
            <a:ext cx="767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  <a:r>
              <a:rPr lang="en-US" dirty="0" smtClean="0"/>
              <a:t> </a:t>
            </a:r>
            <a:r>
              <a:rPr lang="en-US" dirty="0"/>
              <a:t>sample sentences to compare the entailment probability of emotions with the text before and after using </a:t>
            </a:r>
            <a:r>
              <a:rPr lang="en-US" dirty="0" smtClean="0"/>
              <a:t>prompts: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-272143" y="1898031"/>
            <a:ext cx="8621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When using prompt (</a:t>
            </a:r>
            <a:r>
              <a:rPr lang="en-US" dirty="0"/>
              <a:t>adding “This text expresses” to the </a:t>
            </a:r>
            <a:r>
              <a:rPr lang="en-US" dirty="0" smtClean="0"/>
              <a:t>emotion) and </a:t>
            </a:r>
            <a:r>
              <a:rPr lang="en-US" dirty="0" err="1" smtClean="0"/>
              <a:t>Deberta</a:t>
            </a:r>
            <a:r>
              <a:rPr lang="en-US" dirty="0" smtClean="0"/>
              <a:t> model: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45886" y="2298281"/>
            <a:ext cx="6785428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Before using prompt: entailment probability of the true emotion  disgust: 0.66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     entailment </a:t>
            </a:r>
            <a:r>
              <a:rPr lang="en-US" dirty="0"/>
              <a:t>probability of the </a:t>
            </a:r>
            <a:r>
              <a:rPr lang="en-US" dirty="0" smtClean="0"/>
              <a:t>predicted </a:t>
            </a:r>
            <a:r>
              <a:rPr lang="en-US" dirty="0"/>
              <a:t>emotion </a:t>
            </a:r>
            <a:r>
              <a:rPr lang="en-US" dirty="0" smtClean="0"/>
              <a:t>sadness: 0.76</a:t>
            </a:r>
            <a:endParaRPr lang="en-US" dirty="0"/>
          </a:p>
          <a:p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 After </a:t>
            </a:r>
            <a:r>
              <a:rPr lang="en-US" dirty="0"/>
              <a:t>using prompt: entailment probability of the true emotion  disgust: </a:t>
            </a:r>
            <a:r>
              <a:rPr lang="en-US" dirty="0" smtClean="0"/>
              <a:t>0.83</a:t>
            </a:r>
            <a:endParaRPr lang="en-US" dirty="0"/>
          </a:p>
          <a:p>
            <a:r>
              <a:rPr lang="en-US" dirty="0" smtClean="0"/>
              <a:t>        The predicted emotion is true.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185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1600" b="1" dirty="0" smtClean="0"/>
              <a:t>Comparing the prediction for some sample sentences</a:t>
            </a:r>
            <a:endParaRPr 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27</a:t>
            </a:fld>
            <a:endParaRPr lang="ja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64456" y="1307071"/>
            <a:ext cx="86214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Table </a:t>
            </a:r>
            <a:r>
              <a:rPr lang="en-US" dirty="0"/>
              <a:t>4</a:t>
            </a:r>
            <a:r>
              <a:rPr lang="en-US" dirty="0" smtClean="0"/>
              <a:t>: Some </a:t>
            </a:r>
            <a:r>
              <a:rPr lang="en-US" dirty="0"/>
              <a:t>sample sentences that using </a:t>
            </a:r>
            <a:r>
              <a:rPr lang="en-US" dirty="0" err="1"/>
              <a:t>expr_emo</a:t>
            </a:r>
            <a:r>
              <a:rPr lang="en-US" dirty="0"/>
              <a:t> could lead to improvement but </a:t>
            </a:r>
            <a:r>
              <a:rPr lang="en-US" dirty="0" err="1"/>
              <a:t>feels_emo</a:t>
            </a:r>
            <a:r>
              <a:rPr lang="en-US" dirty="0"/>
              <a:t> could </a:t>
            </a:r>
            <a:r>
              <a:rPr lang="en-US" dirty="0" smtClean="0"/>
              <a:t>not</a:t>
            </a:r>
            <a:endParaRPr lang="en-US" dirty="0"/>
          </a:p>
          <a:p>
            <a:endParaRPr lang="en-US" dirty="0" smtClean="0"/>
          </a:p>
          <a:p>
            <a:endParaRPr lang="en-US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488935"/>
              </p:ext>
            </p:extLst>
          </p:nvPr>
        </p:nvGraphicFramePr>
        <p:xfrm>
          <a:off x="497870" y="1676403"/>
          <a:ext cx="7627260" cy="3307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5452">
                  <a:extLst>
                    <a:ext uri="{9D8B030D-6E8A-4147-A177-3AD203B41FA5}">
                      <a16:colId xmlns:a16="http://schemas.microsoft.com/office/drawing/2014/main" val="3449551872"/>
                    </a:ext>
                  </a:extLst>
                </a:gridCol>
                <a:gridCol w="1525452">
                  <a:extLst>
                    <a:ext uri="{9D8B030D-6E8A-4147-A177-3AD203B41FA5}">
                      <a16:colId xmlns:a16="http://schemas.microsoft.com/office/drawing/2014/main" val="4041118951"/>
                    </a:ext>
                  </a:extLst>
                </a:gridCol>
                <a:gridCol w="1525452">
                  <a:extLst>
                    <a:ext uri="{9D8B030D-6E8A-4147-A177-3AD203B41FA5}">
                      <a16:colId xmlns:a16="http://schemas.microsoft.com/office/drawing/2014/main" val="1053487978"/>
                    </a:ext>
                  </a:extLst>
                </a:gridCol>
                <a:gridCol w="1525452">
                  <a:extLst>
                    <a:ext uri="{9D8B030D-6E8A-4147-A177-3AD203B41FA5}">
                      <a16:colId xmlns:a16="http://schemas.microsoft.com/office/drawing/2014/main" val="2926367296"/>
                    </a:ext>
                  </a:extLst>
                </a:gridCol>
                <a:gridCol w="1525452">
                  <a:extLst>
                    <a:ext uri="{9D8B030D-6E8A-4147-A177-3AD203B41FA5}">
                      <a16:colId xmlns:a16="http://schemas.microsoft.com/office/drawing/2014/main" val="1380286263"/>
                    </a:ext>
                  </a:extLst>
                </a:gridCol>
              </a:tblGrid>
              <a:tr h="28271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True label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text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Emo 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Expr emo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Feels</a:t>
                      </a:r>
                      <a:r>
                        <a:rPr lang="en-US" baseline="0" dirty="0" smtClean="0"/>
                        <a:t> emo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80482"/>
                  </a:ext>
                </a:extLst>
              </a:tr>
              <a:tr h="1204683"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anger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 smtClean="0"/>
                        <a:t>When friends try to put me down or hurt me. </a:t>
                      </a:r>
                      <a:r>
                        <a:rPr lang="en-US" dirty="0" smtClean="0"/>
                        <a:t>(</a:t>
                      </a:r>
                      <a:r>
                        <a:rPr lang="en-US" dirty="0" err="1" smtClean="0"/>
                        <a:t>Isear</a:t>
                      </a:r>
                      <a:r>
                        <a:rPr lang="en-US" dirty="0" smtClean="0"/>
                        <a:t> dataset) </a:t>
                      </a:r>
                    </a:p>
                    <a:p>
                      <a:pPr algn="l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 smtClean="0"/>
                        <a:t>fear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anger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fear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217901"/>
                  </a:ext>
                </a:extLst>
              </a:tr>
              <a:tr h="1668010">
                <a:tc>
                  <a:txBody>
                    <a:bodyPr/>
                    <a:lstStyle/>
                    <a:p>
                      <a:r>
                        <a:rPr lang="en-US" dirty="0" smtClean="0"/>
                        <a:t>anger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It's really frustrating when your professors don't email back or show up for their office hours. (Tec dataset)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disgust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anger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fear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369063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64456" y="570554"/>
            <a:ext cx="81425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see that there are some specific tokens in the sentences that are related to the true labels. (like hurt related to anger, frustrating related to anger), but prediction by </a:t>
            </a:r>
            <a:r>
              <a:rPr lang="en-US" dirty="0" err="1"/>
              <a:t>feels_emo</a:t>
            </a:r>
            <a:r>
              <a:rPr lang="en-US" dirty="0"/>
              <a:t> prompt can also be reasonable</a:t>
            </a:r>
          </a:p>
        </p:txBody>
      </p:sp>
    </p:spTree>
    <p:extLst>
      <p:ext uri="{BB962C8B-B14F-4D97-AF65-F5344CB8AC3E}">
        <p14:creationId xmlns:p14="http://schemas.microsoft.com/office/powerpoint/2010/main" val="786327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1600" b="1" dirty="0" smtClean="0"/>
              <a:t>Comparing the prediction for some sample sentences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28</a:t>
            </a:fld>
            <a:endParaRPr lang="ja" alt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661027"/>
              </p:ext>
            </p:extLst>
          </p:nvPr>
        </p:nvGraphicFramePr>
        <p:xfrm>
          <a:off x="711949" y="1724644"/>
          <a:ext cx="7467601" cy="3014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113">
                  <a:extLst>
                    <a:ext uri="{9D8B030D-6E8A-4147-A177-3AD203B41FA5}">
                      <a16:colId xmlns:a16="http://schemas.microsoft.com/office/drawing/2014/main" val="4116945230"/>
                    </a:ext>
                  </a:extLst>
                </a:gridCol>
                <a:gridCol w="1892113">
                  <a:extLst>
                    <a:ext uri="{9D8B030D-6E8A-4147-A177-3AD203B41FA5}">
                      <a16:colId xmlns:a16="http://schemas.microsoft.com/office/drawing/2014/main" val="577805807"/>
                    </a:ext>
                  </a:extLst>
                </a:gridCol>
                <a:gridCol w="1892113">
                  <a:extLst>
                    <a:ext uri="{9D8B030D-6E8A-4147-A177-3AD203B41FA5}">
                      <a16:colId xmlns:a16="http://schemas.microsoft.com/office/drawing/2014/main" val="3428781006"/>
                    </a:ext>
                  </a:extLst>
                </a:gridCol>
                <a:gridCol w="1791262">
                  <a:extLst>
                    <a:ext uri="{9D8B030D-6E8A-4147-A177-3AD203B41FA5}">
                      <a16:colId xmlns:a16="http://schemas.microsoft.com/office/drawing/2014/main" val="3911405020"/>
                    </a:ext>
                  </a:extLst>
                </a:gridCol>
              </a:tblGrid>
              <a:tr h="288056">
                <a:tc>
                  <a:txBody>
                    <a:bodyPr/>
                    <a:lstStyle/>
                    <a:p>
                      <a:r>
                        <a:rPr lang="en-US" dirty="0" smtClean="0"/>
                        <a:t>True label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Text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3008" marR="6300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Expr emo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3008" marR="63008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Feels emo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3008" marR="63008" marT="0" marB="0"/>
                </a:tc>
                <a:extLst>
                  <a:ext uri="{0D108BD9-81ED-4DB2-BD59-A6C34878D82A}">
                    <a16:rowId xmlns:a16="http://schemas.microsoft.com/office/drawing/2014/main" val="688534008"/>
                  </a:ext>
                </a:extLst>
              </a:tr>
              <a:tr h="14978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 smtClean="0">
                          <a:effectLst/>
                        </a:rPr>
                        <a:t>fear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 smtClean="0">
                          <a:effectLst/>
                        </a:rPr>
                        <a:t>Every time I imagine that someone I love or I could contact a serious illness, even death. (from </a:t>
                      </a:r>
                      <a:r>
                        <a:rPr lang="en-US" sz="1400" dirty="0" err="1" smtClean="0">
                          <a:effectLst/>
                        </a:rPr>
                        <a:t>Isear</a:t>
                      </a:r>
                      <a:r>
                        <a:rPr lang="en-US" sz="1400" dirty="0" smtClean="0">
                          <a:effectLst/>
                        </a:rPr>
                        <a:t> dataset)</a:t>
                      </a:r>
                      <a:endParaRPr lang="en-US" sz="1100" dirty="0" smtClean="0">
                        <a:effectLst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fear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1153531"/>
                  </a:ext>
                </a:extLst>
              </a:tr>
              <a:tr h="106304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effectLst/>
                          <a:latin typeface="+mn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joy</a:t>
                      </a:r>
                      <a:endParaRPr lang="en-US" sz="1400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the moment when you get another follower and you cheer</a:t>
                      </a:r>
                      <a:r>
                        <a:rPr lang="en-US" sz="1400" dirty="0" smtClean="0">
                          <a:effectLst/>
                          <a:latin typeface="+mn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.(from Tec dataset)</a:t>
                      </a:r>
                      <a:endParaRPr lang="en-US" sz="1400" dirty="0">
                        <a:effectLst/>
                        <a:latin typeface="+mn-lt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+mn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joy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+mn-lt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joy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808029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1949" y="1097017"/>
            <a:ext cx="7357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Table </a:t>
            </a:r>
            <a:r>
              <a:rPr lang="en-US" dirty="0"/>
              <a:t>5</a:t>
            </a:r>
            <a:r>
              <a:rPr lang="en-US" dirty="0" smtClean="0"/>
              <a:t>: Some </a:t>
            </a:r>
            <a:r>
              <a:rPr lang="en-US" dirty="0"/>
              <a:t>sample sentences that both of </a:t>
            </a:r>
            <a:r>
              <a:rPr lang="en-US" dirty="0" err="1"/>
              <a:t>expr_emo</a:t>
            </a:r>
            <a:r>
              <a:rPr lang="en-US" dirty="0"/>
              <a:t> and </a:t>
            </a:r>
            <a:r>
              <a:rPr lang="en-US" dirty="0" err="1"/>
              <a:t>feels_emo</a:t>
            </a:r>
            <a:r>
              <a:rPr lang="en-US" dirty="0"/>
              <a:t> could lead to true prediction to </a:t>
            </a:r>
            <a:r>
              <a:rPr lang="en-US" dirty="0" smtClean="0"/>
              <a:t>them.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11700" y="572700"/>
            <a:ext cx="84259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see that there are some tokens that are obviously related to the true emotions. (like death related to fear, cheer related to joy).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223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1600" b="1" dirty="0"/>
              <a:t>Comparing the entailment probability for some sample sentences 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29</a:t>
            </a:fld>
            <a:endParaRPr lang="ja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14682" y="1285083"/>
            <a:ext cx="8447118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 smtClean="0"/>
              <a:t>    When </a:t>
            </a:r>
            <a:r>
              <a:rPr lang="en-US" dirty="0"/>
              <a:t>using average of entailment probabilities of synonyms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When </a:t>
            </a:r>
            <a:r>
              <a:rPr lang="en-US" dirty="0"/>
              <a:t>my partner was attacked and lost three teeth. (from </a:t>
            </a:r>
            <a:r>
              <a:rPr lang="en-US" dirty="0" err="1"/>
              <a:t>Isear</a:t>
            </a:r>
            <a:r>
              <a:rPr lang="en-US" dirty="0"/>
              <a:t> </a:t>
            </a:r>
            <a:r>
              <a:rPr lang="en-US" dirty="0" smtClean="0"/>
              <a:t>dataset, </a:t>
            </a:r>
            <a:r>
              <a:rPr lang="en-US" dirty="0"/>
              <a:t>emotion-s prompt</a:t>
            </a:r>
            <a:r>
              <a:rPr lang="en-US" dirty="0" smtClean="0"/>
              <a:t>)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 </a:t>
            </a:r>
            <a:r>
              <a:rPr lang="en-US" dirty="0" smtClean="0"/>
              <a:t>      True </a:t>
            </a:r>
            <a:r>
              <a:rPr lang="en-US" dirty="0"/>
              <a:t>Label: anger, entailment probability: 0.84,    predicted label: fear, entailment probability: </a:t>
            </a:r>
            <a:r>
              <a:rPr lang="en-US" dirty="0" smtClean="0"/>
              <a:t>0.90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11700" y="711200"/>
            <a:ext cx="7867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entailment probability for some sample sentences that their predictions are wrong.</a:t>
            </a:r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11700" y="2788457"/>
            <a:ext cx="8970186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     When </a:t>
            </a:r>
            <a:r>
              <a:rPr lang="en-US" dirty="0"/>
              <a:t>using maximum of entailment probabilities of synonyms</a:t>
            </a:r>
            <a:r>
              <a:rPr lang="en-US" dirty="0" smtClean="0"/>
              <a:t>:</a:t>
            </a:r>
            <a:endParaRPr lang="en-US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 a cottage in a large forest, I was alone for a while in the dark. (from </a:t>
            </a:r>
            <a:r>
              <a:rPr lang="en-US" dirty="0" err="1"/>
              <a:t>Isear</a:t>
            </a:r>
            <a:r>
              <a:rPr lang="en-US" dirty="0"/>
              <a:t> dataset, emotion-s prompt)</a:t>
            </a:r>
          </a:p>
          <a:p>
            <a:pPr>
              <a:lnSpc>
                <a:spcPct val="150000"/>
              </a:lnSpc>
            </a:pPr>
            <a:r>
              <a:rPr lang="en-US" dirty="0"/>
              <a:t>      True label: fear, entailment probability: 0.92, </a:t>
            </a:r>
            <a:r>
              <a:rPr lang="en-US" dirty="0" smtClean="0"/>
              <a:t> predicted </a:t>
            </a:r>
            <a:r>
              <a:rPr lang="en-US" dirty="0"/>
              <a:t>label: sadness, entailment probability: 0.98</a:t>
            </a: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64458" y="4150630"/>
            <a:ext cx="83678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These sentences have ambiguity and the entailment probabilities  of true and predicted labels are close to each other.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524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1600" b="1" dirty="0" smtClean="0"/>
              <a:t>The average of entailment probabilities for each emotion clas</a:t>
            </a:r>
            <a:r>
              <a:rPr lang="en-US" b="1" dirty="0" smtClean="0"/>
              <a:t>s </a:t>
            </a:r>
            <a:r>
              <a:rPr lang="en-US" sz="1600" b="1" dirty="0" smtClean="0"/>
              <a:t>(</a:t>
            </a:r>
            <a:r>
              <a:rPr lang="en-US" sz="1600" b="1" dirty="0" err="1" smtClean="0"/>
              <a:t>Isear</a:t>
            </a:r>
            <a:r>
              <a:rPr lang="en-US" sz="1600" b="1" dirty="0" smtClean="0"/>
              <a:t> dataset)</a:t>
            </a:r>
            <a:endParaRPr 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30</a:t>
            </a:fld>
            <a:endParaRPr lang="ja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585345"/>
              </p:ext>
            </p:extLst>
          </p:nvPr>
        </p:nvGraphicFramePr>
        <p:xfrm>
          <a:off x="907144" y="2287195"/>
          <a:ext cx="7590968" cy="1644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5160">
                  <a:extLst>
                    <a:ext uri="{9D8B030D-6E8A-4147-A177-3AD203B41FA5}">
                      <a16:colId xmlns:a16="http://schemas.microsoft.com/office/drawing/2014/main" val="3849967317"/>
                    </a:ext>
                  </a:extLst>
                </a:gridCol>
                <a:gridCol w="777171">
                  <a:extLst>
                    <a:ext uri="{9D8B030D-6E8A-4147-A177-3AD203B41FA5}">
                      <a16:colId xmlns:a16="http://schemas.microsoft.com/office/drawing/2014/main" val="4215687565"/>
                    </a:ext>
                  </a:extLst>
                </a:gridCol>
                <a:gridCol w="1049209">
                  <a:extLst>
                    <a:ext uri="{9D8B030D-6E8A-4147-A177-3AD203B41FA5}">
                      <a16:colId xmlns:a16="http://schemas.microsoft.com/office/drawing/2014/main" val="3545274810"/>
                    </a:ext>
                  </a:extLst>
                </a:gridCol>
                <a:gridCol w="703944">
                  <a:extLst>
                    <a:ext uri="{9D8B030D-6E8A-4147-A177-3AD203B41FA5}">
                      <a16:colId xmlns:a16="http://schemas.microsoft.com/office/drawing/2014/main" val="1359386057"/>
                    </a:ext>
                  </a:extLst>
                </a:gridCol>
                <a:gridCol w="948871">
                  <a:extLst>
                    <a:ext uri="{9D8B030D-6E8A-4147-A177-3AD203B41FA5}">
                      <a16:colId xmlns:a16="http://schemas.microsoft.com/office/drawing/2014/main" val="2142621552"/>
                    </a:ext>
                  </a:extLst>
                </a:gridCol>
                <a:gridCol w="948871">
                  <a:extLst>
                    <a:ext uri="{9D8B030D-6E8A-4147-A177-3AD203B41FA5}">
                      <a16:colId xmlns:a16="http://schemas.microsoft.com/office/drawing/2014/main" val="727698866"/>
                    </a:ext>
                  </a:extLst>
                </a:gridCol>
                <a:gridCol w="948871">
                  <a:extLst>
                    <a:ext uri="{9D8B030D-6E8A-4147-A177-3AD203B41FA5}">
                      <a16:colId xmlns:a16="http://schemas.microsoft.com/office/drawing/2014/main" val="3123669035"/>
                    </a:ext>
                  </a:extLst>
                </a:gridCol>
                <a:gridCol w="948871">
                  <a:extLst>
                    <a:ext uri="{9D8B030D-6E8A-4147-A177-3AD203B41FA5}">
                      <a16:colId xmlns:a16="http://schemas.microsoft.com/office/drawing/2014/main" val="2153677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emotion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anger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disgust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guilt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joy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sadness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shame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682404"/>
                  </a:ext>
                </a:extLst>
              </a:tr>
              <a:tr h="608405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average (true prediction)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0.87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0.9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0.9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0.86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0.83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0.88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0.91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4379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average (Wrong prediction)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0.71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0.62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0.68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0.75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0.35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0.6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Arial" panose="020B0604020202020204" pitchFamily="34" charset="0"/>
                        </a:rPr>
                        <a:t>0.45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750688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22515" y="762000"/>
            <a:ext cx="78957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To compare the range of entailment probabilities for the cases that prediction is true </a:t>
            </a:r>
            <a:r>
              <a:rPr lang="en-US" dirty="0" smtClean="0"/>
              <a:t>and </a:t>
            </a:r>
            <a:r>
              <a:rPr lang="en-US" dirty="0"/>
              <a:t>wrong, the average of entailment probabilities for each emotion class have been </a:t>
            </a:r>
            <a:r>
              <a:rPr lang="en-US" dirty="0" smtClean="0"/>
              <a:t>obtained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07144" y="1669143"/>
            <a:ext cx="75909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Table 6: The </a:t>
            </a:r>
            <a:r>
              <a:rPr lang="en-US" dirty="0"/>
              <a:t>average of entailment probabilities for each emotion class (</a:t>
            </a:r>
            <a:r>
              <a:rPr lang="en-US" dirty="0" err="1"/>
              <a:t>Isear</a:t>
            </a:r>
            <a:r>
              <a:rPr lang="en-US" dirty="0"/>
              <a:t> dataset, when using average of entailment probabilities of synonyms, emotion-s prompt)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335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545" y="0"/>
            <a:ext cx="8520600" cy="572700"/>
          </a:xfrm>
        </p:spPr>
        <p:txBody>
          <a:bodyPr/>
          <a:lstStyle/>
          <a:p>
            <a:pPr algn="ctr">
              <a:buNone/>
            </a:pPr>
            <a:r>
              <a:rPr lang="en-US" sz="1600" b="1" dirty="0"/>
              <a:t>The average of entailment probabilities for each emotion </a:t>
            </a:r>
            <a:r>
              <a:rPr lang="en-US" sz="1600" b="1" dirty="0" smtClean="0"/>
              <a:t>class (Tec dataset) 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31</a:t>
            </a:fld>
            <a:endParaRPr lang="ja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76514" y="1542998"/>
            <a:ext cx="7199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Table 7: The </a:t>
            </a:r>
            <a:r>
              <a:rPr lang="en-US" dirty="0"/>
              <a:t>average of entailment probabilities for each emotion class (Tec dataset, when using average of entailment probabilities of synonyms, emotion-s prompt)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0415861"/>
              </p:ext>
            </p:extLst>
          </p:nvPr>
        </p:nvGraphicFramePr>
        <p:xfrm>
          <a:off x="832140" y="2203780"/>
          <a:ext cx="7347410" cy="2080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630">
                  <a:extLst>
                    <a:ext uri="{9D8B030D-6E8A-4147-A177-3AD203B41FA5}">
                      <a16:colId xmlns:a16="http://schemas.microsoft.com/office/drawing/2014/main" val="1396554783"/>
                    </a:ext>
                  </a:extLst>
                </a:gridCol>
                <a:gridCol w="1049630">
                  <a:extLst>
                    <a:ext uri="{9D8B030D-6E8A-4147-A177-3AD203B41FA5}">
                      <a16:colId xmlns:a16="http://schemas.microsoft.com/office/drawing/2014/main" val="1212279384"/>
                    </a:ext>
                  </a:extLst>
                </a:gridCol>
                <a:gridCol w="1049630">
                  <a:extLst>
                    <a:ext uri="{9D8B030D-6E8A-4147-A177-3AD203B41FA5}">
                      <a16:colId xmlns:a16="http://schemas.microsoft.com/office/drawing/2014/main" val="3170452168"/>
                    </a:ext>
                  </a:extLst>
                </a:gridCol>
                <a:gridCol w="1049630">
                  <a:extLst>
                    <a:ext uri="{9D8B030D-6E8A-4147-A177-3AD203B41FA5}">
                      <a16:colId xmlns:a16="http://schemas.microsoft.com/office/drawing/2014/main" val="695306820"/>
                    </a:ext>
                  </a:extLst>
                </a:gridCol>
                <a:gridCol w="1049630">
                  <a:extLst>
                    <a:ext uri="{9D8B030D-6E8A-4147-A177-3AD203B41FA5}">
                      <a16:colId xmlns:a16="http://schemas.microsoft.com/office/drawing/2014/main" val="502242468"/>
                    </a:ext>
                  </a:extLst>
                </a:gridCol>
                <a:gridCol w="1049630">
                  <a:extLst>
                    <a:ext uri="{9D8B030D-6E8A-4147-A177-3AD203B41FA5}">
                      <a16:colId xmlns:a16="http://schemas.microsoft.com/office/drawing/2014/main" val="2300310529"/>
                    </a:ext>
                  </a:extLst>
                </a:gridCol>
                <a:gridCol w="1049630">
                  <a:extLst>
                    <a:ext uri="{9D8B030D-6E8A-4147-A177-3AD203B41FA5}">
                      <a16:colId xmlns:a16="http://schemas.microsoft.com/office/drawing/2014/main" val="3288938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emotion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anger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Disgust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fear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Joy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sadness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surprise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7143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 smtClean="0">
                          <a:effectLst/>
                        </a:rPr>
                        <a:t>average (true prediction)</a:t>
                      </a:r>
                      <a:endParaRPr lang="en-US" sz="1100" dirty="0" smtClean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 smtClean="0">
                          <a:effectLst/>
                        </a:rPr>
                        <a:t>0.84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0.86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0.61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0.75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0.79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0.77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387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 smtClean="0">
                          <a:effectLst/>
                        </a:rPr>
                        <a:t>average (wrong prediction)</a:t>
                      </a:r>
                      <a:endParaRPr lang="en-US" sz="1100" dirty="0" smtClean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0.47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0.52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0.31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0.23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>
                          <a:effectLst/>
                        </a:rPr>
                        <a:t>0.39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dirty="0">
                          <a:effectLst/>
                        </a:rPr>
                        <a:t>0.57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40001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32140" y="664095"/>
            <a:ext cx="7598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We can see that the range of entailment probabilities for true predictions are higher.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559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32</a:t>
            </a:fld>
            <a:endParaRPr lang="ja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351671" y="1937657"/>
            <a:ext cx="6480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/>
              <a:t>Conclusion and future work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94011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1600" b="1" dirty="0" smtClean="0"/>
              <a:t>Conclusion</a:t>
            </a:r>
            <a:endParaRPr 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33</a:t>
            </a:fld>
            <a:endParaRPr lang="ja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03943" y="830738"/>
            <a:ext cx="760548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Using prompts can affect the context of emotions and sometimes lead to improvement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synonyms of emotions have been used by different strategies, we saw that involving all of synonyms could lead to improvement 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entailment </a:t>
            </a:r>
            <a:r>
              <a:rPr lang="en-US" dirty="0" smtClean="0"/>
              <a:t>probabilities </a:t>
            </a:r>
            <a:r>
              <a:rPr lang="en-US" dirty="0"/>
              <a:t>of true emotion and predicted emotion are close to each other for the sentences that have ambiguity in their content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641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1600" b="1" dirty="0" smtClean="0"/>
              <a:t>Limitation and future work</a:t>
            </a:r>
            <a:endParaRPr 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34</a:t>
            </a:fld>
            <a:endParaRPr lang="ja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24114" y="827689"/>
            <a:ext cx="7750629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Limitations</a:t>
            </a:r>
          </a:p>
          <a:p>
            <a:endParaRPr lang="en-US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prompts that have been used in this work were based on sample prompt types in recent studies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texts of datasets that have been used in these experiments </a:t>
            </a:r>
            <a:r>
              <a:rPr lang="en-US" dirty="0" smtClean="0"/>
              <a:t>had different complexities and some of them had ambiguity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r>
              <a:rPr lang="en-US" b="1" dirty="0" smtClean="0"/>
              <a:t>Future work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Designing a more guided prompt based on characteristics of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If the datasets with more consistent textual features were used, the synonym adaptive methods could lead to more improvement.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Looking for a more guided synonym adaptive method </a:t>
            </a:r>
          </a:p>
          <a:p>
            <a:endParaRPr lang="en-US" dirty="0"/>
          </a:p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621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/>
              <a:t>35</a:t>
            </a:fld>
            <a:endParaRPr lang="ja" altLang="en-US"/>
          </a:p>
        </p:txBody>
      </p:sp>
      <p:sp>
        <p:nvSpPr>
          <p:cNvPr id="5" name="TextBox 4"/>
          <p:cNvSpPr txBox="1"/>
          <p:nvPr/>
        </p:nvSpPr>
        <p:spPr>
          <a:xfrm>
            <a:off x="863600" y="2246509"/>
            <a:ext cx="6712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Thank you for listening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979889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72834</TotalTime>
  <Words>2288</Words>
  <Application>Microsoft Office PowerPoint</Application>
  <PresentationFormat>On-screen Show (16:9)</PresentationFormat>
  <Paragraphs>387</Paragraphs>
  <Slides>35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Yu Mincho</vt:lpstr>
      <vt:lpstr>Arial</vt:lpstr>
      <vt:lpstr>Calibri</vt:lpstr>
      <vt:lpstr>Cambria Math</vt:lpstr>
      <vt:lpstr>Simple Light</vt:lpstr>
      <vt:lpstr>Simple Light</vt:lpstr>
      <vt:lpstr>Prompt based zero shot emotion classification</vt:lpstr>
      <vt:lpstr>outline</vt:lpstr>
      <vt:lpstr>PowerPoint Presentation</vt:lpstr>
      <vt:lpstr>Introduction</vt:lpstr>
      <vt:lpstr>Problem statement</vt:lpstr>
      <vt:lpstr>PowerPoint Presentation</vt:lpstr>
      <vt:lpstr>Emotion classification</vt:lpstr>
      <vt:lpstr>Zero shot learning</vt:lpstr>
      <vt:lpstr>Natural language inference for zero shot emotion classification</vt:lpstr>
      <vt:lpstr>PowerPoint Presentation</vt:lpstr>
      <vt:lpstr>PowerPoint Presentation</vt:lpstr>
      <vt:lpstr>Natural language task</vt:lpstr>
      <vt:lpstr>Prompt generation</vt:lpstr>
      <vt:lpstr>Using synonyms in prompts of emotions</vt:lpstr>
      <vt:lpstr>Synonyms of emotions</vt:lpstr>
      <vt:lpstr>Strategies to use synonyms of emotions</vt:lpstr>
      <vt:lpstr>PowerPoint Presentation</vt:lpstr>
      <vt:lpstr>Datasets and Models</vt:lpstr>
      <vt:lpstr>Results of prompts of emotions (Isear dataset)</vt:lpstr>
      <vt:lpstr>Results of prompts of emotions (Tec dataset)</vt:lpstr>
      <vt:lpstr>PowerPoint Presentation</vt:lpstr>
      <vt:lpstr>The results of using synonyms of emotions (the average method, Tec dataset)</vt:lpstr>
      <vt:lpstr>The results of using synonyms of emotions( The maximum method, Isear dataset)</vt:lpstr>
      <vt:lpstr>The results of using synonyms of emotions (The maximum method, Tec dataset)</vt:lpstr>
      <vt:lpstr>The result of combining two methods</vt:lpstr>
      <vt:lpstr>The effects of prompts on context of emotions</vt:lpstr>
      <vt:lpstr>Comparing the prediction for some sample sentences</vt:lpstr>
      <vt:lpstr>Comparing the prediction for some sample sentences</vt:lpstr>
      <vt:lpstr>Comparing the entailment probability for some sample sentences </vt:lpstr>
      <vt:lpstr>The average of entailment probabilities for each emotion class (Isear dataset)</vt:lpstr>
      <vt:lpstr>The average of entailment probabilities for each emotion class (Tec dataset) </vt:lpstr>
      <vt:lpstr>PowerPoint Presentation</vt:lpstr>
      <vt:lpstr>Conclusion</vt:lpstr>
      <vt:lpstr>Limitation and future 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shot emotion classification in text (using prompt)</dc:title>
  <cp:lastModifiedBy>tabejamaat</cp:lastModifiedBy>
  <cp:revision>1220</cp:revision>
  <dcterms:modified xsi:type="dcterms:W3CDTF">2026-02-06T14:55:28Z</dcterms:modified>
</cp:coreProperties>
</file>